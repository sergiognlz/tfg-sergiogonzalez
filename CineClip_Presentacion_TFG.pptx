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53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7.xml"/><Relationship Id="rId7" Type="http://schemas.openxmlformats.org/officeDocument/2006/relationships/slide" Target="slide9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slide" Target="slide11.xml"/><Relationship Id="rId5" Type="http://schemas.openxmlformats.org/officeDocument/2006/relationships/slide" Target="slide8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slide" Target="slide10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3200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9144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5087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10312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69748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32918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38862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44805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3200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9144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5087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0312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69748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32918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38862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4805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731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CineClip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 la película. Un fotograma a la vez.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Superior — DAM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González Chacón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Curso 2025 – 2026  </a:t>
            </a:r>
            <a:r>
              <a:rPr lang="en-US" sz="13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Mayo 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93392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9584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65776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01968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297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Motivación y Propuesta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y Moviedle: solo web, sin app móvil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única partida al día por usuario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contenido localizado en español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ranking global ni comunidad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3192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CineClip resuelve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nativa + Web desde un solo código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Partidas ilimitadas, sin restricción diaria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100% en español vía TMDB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 persistente en Firebase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50876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 54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multiplataforma (Android + Web)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05840"/>
            <a:ext cx="109728" cy="150876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15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 · Tipado estático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05840"/>
            <a:ext cx="109728" cy="1508760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15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+ 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en la nube + Autenticación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97480"/>
            <a:ext cx="109728" cy="1508760"/>
          </a:xfrm>
          <a:prstGeom prst="rect">
            <a:avLst/>
          </a:prstGeom>
          <a:solidFill>
            <a:srgbClr val="01D277"/>
          </a:solidFill>
          <a:ln w="12700">
            <a:solidFill>
              <a:srgbClr val="01D2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07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v3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y backdrops en español · 3 endpoints/partida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69748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697480"/>
            <a:ext cx="109728" cy="1508760"/>
          </a:xfrm>
          <a:prstGeom prst="rect">
            <a:avLst/>
          </a:prstGeom>
          <a:solidFill>
            <a:srgbClr val="000020"/>
          </a:solidFill>
          <a:ln w="12700">
            <a:solidFill>
              <a:srgbClr val="0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07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manual (App.tsx)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pantallas mediante estado React (useState)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69748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697480"/>
            <a:ext cx="109728" cy="1508760"/>
          </a:xfrm>
          <a:prstGeom prst="rect">
            <a:avLst/>
          </a:prstGeom>
          <a:solidFill>
            <a:srgbClr val="C21325"/>
          </a:solidFill>
          <a:ln w="12700">
            <a:solidFill>
              <a:srgbClr val="C213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07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RNTL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e integración · 48 casos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804672"/>
          </a:xfrm>
          <a:prstGeom prst="rect">
            <a:avLst/>
          </a:prstGeom>
          <a:solidFill>
            <a:srgbClr val="1E1E1E"/>
          </a:solidFill>
          <a:ln w="25400">
            <a:solidFill>
              <a:srgbClr val="7E57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60120"/>
            <a:ext cx="164592" cy="804672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14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5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" y="13807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+ ViewModels (MVVM) · React Native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764792"/>
            <a:ext cx="0" cy="15544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920240"/>
            <a:ext cx="8778240" cy="804672"/>
          </a:xfrm>
          <a:prstGeom prst="rect">
            <a:avLst/>
          </a:prstGeom>
          <a:solidFill>
            <a:srgbClr val="1E1E1E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920240"/>
            <a:ext cx="164592" cy="80467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75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2340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Repositorios (interfaces) · Casos de uso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724912"/>
            <a:ext cx="0" cy="15544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8412480" cy="804672"/>
          </a:xfrm>
          <a:prstGeom prst="rect">
            <a:avLst/>
          </a:prstGeom>
          <a:solidFill>
            <a:srgbClr val="1E1E1E"/>
          </a:solidFill>
          <a:ln w="254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164592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352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A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" y="33009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TmdbMovieRepository · </a:t>
            </a:r>
            <a:r>
              <a:rPr lang="en-US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FirebaseRankingRepository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. </a:t>
            </a:r>
            <a:r>
              <a:rPr lang="en-US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FirebaseAuthRepository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685032"/>
            <a:ext cx="0" cy="15544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40480"/>
            <a:ext cx="8046720" cy="804672"/>
          </a:xfrm>
          <a:prstGeom prst="rect">
            <a:avLst/>
          </a:prstGeom>
          <a:solidFill>
            <a:srgbClr val="1E1E1E"/>
          </a:solidFill>
          <a:ln w="25400">
            <a:solidFill>
              <a:srgbClr val="546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164592" cy="8046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6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2611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· HTTP client (language=es-ES)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960120"/>
            <a:ext cx="201168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960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SOLID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Mecánica de Juego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2194560"/>
          </a:xfrm>
          <a:prstGeom prst="rect">
            <a:avLst/>
          </a:prstGeom>
          <a:solidFill>
            <a:srgbClr val="1E1E1E"/>
          </a:solidFill>
          <a:ln w="25400">
            <a:solidFill>
              <a:srgbClr val="5C6B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640080" cy="6400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[0]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ambiguo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011680"/>
            <a:ext cx="27432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14400"/>
            <a:ext cx="1920240" cy="2194560"/>
          </a:xfrm>
          <a:prstGeom prst="rect">
            <a:avLst/>
          </a:prstGeom>
          <a:solidFill>
            <a:srgbClr val="1E1E1E"/>
          </a:solidFill>
          <a:ln w="25400">
            <a:solidFill>
              <a:srgbClr val="EF6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005840"/>
            <a:ext cx="640080" cy="64008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Backdrop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Pista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27432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20240" cy="2194560"/>
          </a:xfrm>
          <a:prstGeom prst="rect">
            <a:avLst/>
          </a:prstGeom>
          <a:solidFill>
            <a:srgbClr val="1E1E1E"/>
          </a:solidFill>
          <a:ln w="25400">
            <a:solidFill>
              <a:srgbClr val="EF6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005840"/>
            <a:ext cx="640080" cy="64008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194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Backdrop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Pista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011680"/>
            <a:ext cx="274320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914400"/>
            <a:ext cx="1920240" cy="960120"/>
          </a:xfrm>
          <a:prstGeom prst="rect">
            <a:avLst/>
          </a:prstGeom>
          <a:solidFill>
            <a:srgbClr val="0A2E0A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Acierto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(6 - intentos) × 100 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95160" y="2057400"/>
            <a:ext cx="1920240" cy="960120"/>
          </a:xfrm>
          <a:prstGeom prst="rect">
            <a:avLst/>
          </a:prstGeom>
          <a:solidFill>
            <a:srgbClr val="2E0A0A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057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Intentos agotados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2514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revelada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640080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A67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progresivas: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1 → Año de estreno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2 → Director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3 → Género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4 → Reparto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Pantallas de la Aplicación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0" y="292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(pulsa cada imagen para ampliar)</a:t>
            </a:r>
            <a:endParaRPr lang="en-US" sz="1100" dirty="0"/>
          </a:p>
        </p:txBody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182880" y="914400"/>
            <a:ext cx="1572768" cy="1435608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6" name="Image 0" descr="/home/claude/screen_login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50976"/>
            <a:ext cx="1499616" cy="813816"/>
          </a:xfrm>
          <a:prstGeom prst="rect">
            <a:avLst/>
          </a:prstGeom>
        </p:spPr>
      </p:pic>
      <p:sp>
        <p:nvSpPr>
          <p:cNvPr id="7" name="Shape 4">
            <a:hlinkClick r:id="rId3" action="ppaction://hlinksldjump"/>
          </p:cNvPr>
          <p:cNvSpPr/>
          <p:nvPr/>
        </p:nvSpPr>
        <p:spPr>
          <a:xfrm>
            <a:off x="768096" y="1065276"/>
            <a:ext cx="402336" cy="402336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5">
            <a:hlinkClick r:id="rId3" action="ppaction://hlinksldjump"/>
          </p:cNvPr>
          <p:cNvSpPr/>
          <p:nvPr/>
        </p:nvSpPr>
        <p:spPr>
          <a:xfrm>
            <a:off x="768096" y="10652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8B84B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" y="1874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0" name="Shape 7">
            <a:hlinkClick r:id="rId5" action="ppaction://hlinksldjump"/>
          </p:cNvPr>
          <p:cNvSpPr/>
          <p:nvPr/>
        </p:nvSpPr>
        <p:spPr>
          <a:xfrm>
            <a:off x="1938528" y="914400"/>
            <a:ext cx="1572768" cy="1435608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11" name="Image 1" descr="/home/claude/screen_game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75104" y="950976"/>
            <a:ext cx="1499616" cy="813816"/>
          </a:xfrm>
          <a:prstGeom prst="rect">
            <a:avLst/>
          </a:prstGeom>
        </p:spPr>
      </p:pic>
      <p:sp>
        <p:nvSpPr>
          <p:cNvPr id="12" name="Shape 8">
            <a:hlinkClick r:id="rId5" action="ppaction://hlinksldjump"/>
          </p:cNvPr>
          <p:cNvSpPr/>
          <p:nvPr/>
        </p:nvSpPr>
        <p:spPr>
          <a:xfrm>
            <a:off x="2523744" y="1065276"/>
            <a:ext cx="402336" cy="402336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9">
            <a:hlinkClick r:id="rId5" action="ppaction://hlinksldjump"/>
          </p:cNvPr>
          <p:cNvSpPr/>
          <p:nvPr/>
        </p:nvSpPr>
        <p:spPr>
          <a:xfrm>
            <a:off x="2523744" y="10652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8B84B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938528" y="1874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endParaRPr lang="en-US" sz="1200" dirty="0"/>
          </a:p>
        </p:txBody>
      </p:sp>
      <p:sp>
        <p:nvSpPr>
          <p:cNvPr id="15" name="Shape 11">
            <a:hlinkClick r:id="rId7" action="ppaction://hlinksldjump"/>
          </p:cNvPr>
          <p:cNvSpPr/>
          <p:nvPr/>
        </p:nvSpPr>
        <p:spPr>
          <a:xfrm>
            <a:off x="3694176" y="914400"/>
            <a:ext cx="1572768" cy="1435608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16" name="Image 2" descr="/home/claude/screen_hints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30752" y="950976"/>
            <a:ext cx="1499616" cy="813816"/>
          </a:xfrm>
          <a:prstGeom prst="rect">
            <a:avLst/>
          </a:prstGeom>
        </p:spPr>
      </p:pic>
      <p:sp>
        <p:nvSpPr>
          <p:cNvPr id="17" name="Shape 12">
            <a:hlinkClick r:id="rId7" action="ppaction://hlinksldjump"/>
          </p:cNvPr>
          <p:cNvSpPr/>
          <p:nvPr/>
        </p:nvSpPr>
        <p:spPr>
          <a:xfrm>
            <a:off x="4279392" y="1065276"/>
            <a:ext cx="402336" cy="402336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3">
            <a:hlinkClick r:id="rId7" action="ppaction://hlinksldjump"/>
          </p:cNvPr>
          <p:cNvSpPr/>
          <p:nvPr/>
        </p:nvSpPr>
        <p:spPr>
          <a:xfrm>
            <a:off x="4279392" y="10652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8B84B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694176" y="1874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</a:t>
            </a:r>
            <a:endParaRPr lang="en-US" sz="1200" dirty="0"/>
          </a:p>
        </p:txBody>
      </p:sp>
      <p:sp>
        <p:nvSpPr>
          <p:cNvPr id="20" name="Shape 15">
            <a:hlinkClick r:id="rId9" action="ppaction://hlinksldjump"/>
          </p:cNvPr>
          <p:cNvSpPr/>
          <p:nvPr/>
        </p:nvSpPr>
        <p:spPr>
          <a:xfrm>
            <a:off x="5449824" y="914400"/>
            <a:ext cx="1572768" cy="1435608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1" name="Image 3" descr="/home/claude/screen_result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86400" y="950976"/>
            <a:ext cx="1499616" cy="813816"/>
          </a:xfrm>
          <a:prstGeom prst="rect">
            <a:avLst/>
          </a:prstGeom>
        </p:spPr>
      </p:pic>
      <p:sp>
        <p:nvSpPr>
          <p:cNvPr id="22" name="Shape 16">
            <a:hlinkClick r:id="rId9" action="ppaction://hlinksldjump"/>
          </p:cNvPr>
          <p:cNvSpPr/>
          <p:nvPr/>
        </p:nvSpPr>
        <p:spPr>
          <a:xfrm>
            <a:off x="6035040" y="1065276"/>
            <a:ext cx="402336" cy="402336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17">
            <a:hlinkClick r:id="rId9" action="ppaction://hlinksldjump"/>
          </p:cNvPr>
          <p:cNvSpPr/>
          <p:nvPr/>
        </p:nvSpPr>
        <p:spPr>
          <a:xfrm>
            <a:off x="6035040" y="10652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8B84B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49824" y="1874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5" name="Shape 19">
            <a:hlinkClick r:id="rId11" action="ppaction://hlinksldjump"/>
          </p:cNvPr>
          <p:cNvSpPr/>
          <p:nvPr/>
        </p:nvSpPr>
        <p:spPr>
          <a:xfrm>
            <a:off x="7205472" y="914400"/>
            <a:ext cx="1572768" cy="1435608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6" name="Image 4" descr="/home/claude/screen_ranking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42048" y="950976"/>
            <a:ext cx="1499616" cy="813816"/>
          </a:xfrm>
          <a:prstGeom prst="rect">
            <a:avLst/>
          </a:prstGeom>
        </p:spPr>
      </p:pic>
      <p:sp>
        <p:nvSpPr>
          <p:cNvPr id="27" name="Shape 20">
            <a:hlinkClick r:id="rId11" action="ppaction://hlinksldjump"/>
          </p:cNvPr>
          <p:cNvSpPr/>
          <p:nvPr/>
        </p:nvSpPr>
        <p:spPr>
          <a:xfrm>
            <a:off x="7790688" y="1065276"/>
            <a:ext cx="402336" cy="402336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8" name="Text 21">
            <a:hlinkClick r:id="rId11" action="ppaction://hlinksldjump"/>
          </p:cNvPr>
          <p:cNvSpPr/>
          <p:nvPr/>
        </p:nvSpPr>
        <p:spPr>
          <a:xfrm>
            <a:off x="7790688" y="10652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8B84B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205472" y="1874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82880" y="1965960"/>
            <a:ext cx="8778240" cy="2743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2084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juego con pistas progresivas activas →</a:t>
            </a:r>
            <a:endParaRPr lang="en-US" sz="1200" dirty="0"/>
          </a:p>
        </p:txBody>
      </p:sp>
      <p:pic>
        <p:nvPicPr>
          <p:cNvPr id="32" name="Image 5" descr="/home/claude/screen_hints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74320" y="2514600"/>
            <a:ext cx="8595360" cy="22860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con 4 pistas desveladas tras fallos · backdrop cambiado · 1 intento restante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 — Firebase Authentication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Volver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_ga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Juego — Backdrop inicial · 5 intentos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Volver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_hi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Juego — Pistas progresivas tras fallos · 1 intento restante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_resul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Game Over · metadatos completos en español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Volver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reen_ran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 — Clasificación por puntuación (Firebase Firestore)</a:t>
            </a:r>
            <a:endParaRPr lang="en-US" sz="1400" dirty="0"/>
          </a:p>
        </p:txBody>
      </p:sp>
      <p:sp>
        <p:nvSpPr>
          <p:cNvPr id="5" name="Shape 2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>
            <a:hlinkClick r:id="rId4" action="ppaction://hlinksldjump"/>
          </p:cNvPr>
          <p:cNvSpPr/>
          <p:nvPr/>
        </p:nvSpPr>
        <p:spPr>
          <a:xfrm>
            <a:off x="7863840" y="45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Volver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Pruebas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2286000"/>
          </a:xfrm>
          <a:prstGeom prst="rect">
            <a:avLst/>
          </a:prstGeom>
          <a:solidFill>
            <a:srgbClr val="1E1E1E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960120"/>
            <a:ext cx="566928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960120"/>
            <a:ext cx="128016" cy="8046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11612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1005840" cy="411480"/>
          </a:xfrm>
          <a:prstGeom prst="rect">
            <a:avLst/>
          </a:prstGeom>
          <a:solidFill>
            <a:srgbClr val="0A2E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43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 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566928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920240"/>
            <a:ext cx="128016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21214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1005840" cy="411480"/>
          </a:xfrm>
          <a:prstGeom prst="rect">
            <a:avLst/>
          </a:prstGeom>
          <a:solidFill>
            <a:srgbClr val="0A2E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031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 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2880360"/>
            <a:ext cx="566928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880360"/>
            <a:ext cx="128016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30815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1005840" cy="411480"/>
          </a:xfrm>
          <a:prstGeom prst="rect">
            <a:avLst/>
          </a:prstGeom>
          <a:solidFill>
            <a:srgbClr val="0A2E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063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13 PASS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840480"/>
            <a:ext cx="566928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840480"/>
            <a:ext cx="128016" cy="8046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4041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023360"/>
            <a:ext cx="1005840" cy="411480"/>
          </a:xfrm>
          <a:prstGeom prst="rect">
            <a:avLst/>
          </a:prstGeom>
          <a:solidFill>
            <a:srgbClr val="0A2E0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023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PASS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4023360"/>
            <a:ext cx="1188720" cy="411480"/>
          </a:xfrm>
          <a:prstGeom prst="rect">
            <a:avLst/>
          </a:prstGeom>
          <a:solidFill>
            <a:srgbClr val="2E1A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1 PEND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PNF-03 (Android API 26) pendiente por limitación de entorno de emulación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Trabajo Futuro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alcanzados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+ Web desde una sola base de código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TMDB con contenido en español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Backdrops progresivos como mecánica de juego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 por ID (sin normalización de texto)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global con Firebase Firestore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casos de prueba documentados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384048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144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4173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propio para proteger la API Key de TMDB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género y época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multijugador en tiempo 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series de TV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accesibilidad (WCAG AA completo)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CineClip – TFG DAM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200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9144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5087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10312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69748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329184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388620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4480560"/>
            <a:ext cx="384048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731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50292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González Chacón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DAM · Junio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30352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A67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https://sergiognlz.github.io/TFG-SergioGonzalez/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2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E600448-0A6F-41CB-84DA-5FC07335F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364" y="1503771"/>
            <a:ext cx="2057636" cy="24247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577</Words>
  <Application>Microsoft Office PowerPoint</Application>
  <PresentationFormat>Presentación en pantalla (16:9)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CineClip - TFG DAM</dc:title>
  <dc:subject>PptxGenJS Presentation</dc:subject>
  <dc:creator>PptxGenJS</dc:creator>
  <cp:lastModifiedBy>Sergio González Chacón</cp:lastModifiedBy>
  <cp:revision>7</cp:revision>
  <dcterms:created xsi:type="dcterms:W3CDTF">2026-03-05T08:53:51Z</dcterms:created>
  <dcterms:modified xsi:type="dcterms:W3CDTF">2026-05-18T07:53:53Z</dcterms:modified>
</cp:coreProperties>
</file>