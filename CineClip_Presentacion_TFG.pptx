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?>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1" d="100"/>
          <a:sy n="101" d="100"/>
        </p:scale>
        <p:origin x="280" y="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165385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?>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?>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?>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?>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?>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slide" Target="slide10.xml"/><Relationship Id="rId7" Type="http://schemas.openxmlformats.org/officeDocument/2006/relationships/slide" Target="slide12.xml"/><Relationship Id="rId12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11" Type="http://schemas.openxmlformats.org/officeDocument/2006/relationships/slide" Target="slide14.xml"/><Relationship Id="rId5" Type="http://schemas.openxmlformats.org/officeDocument/2006/relationships/slide" Target="slide11.xml"/><Relationship Id="rId10" Type="http://schemas.openxmlformats.org/officeDocument/2006/relationships/image" Target="../media/image4.png"/><Relationship Id="rId4" Type="http://schemas.openxmlformats.org/officeDocument/2006/relationships/image" Target="../media/image1.png"/><Relationship Id="rId9" Type="http://schemas.openxmlformats.org/officeDocument/2006/relationships/slide" Target="slide13.xml"/></Relationships>
</file>

<file path=ppt/slides/_rels/slide7.xml.rels><?xml version="1.0" encoding="UTF-8"?>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slide" Target="slide6.xml"/></Relationships>
</file>

<file path=ppt/slides/_rels/slide8.xml.rels><?xml version="1.0" encoding="UTF-8"?>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slide" Target="slide6.xml"/></Relationships>
</file>

<file path=ppt/slides/_rels/slide9.xml.rels><?xml version="1.0" encoding="UTF-8"?>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slide" Target="slide6.xml"/></Relationships>
</file>

<file path=ppt/slides/_rels/slide10.xml.rels><?xml version="1.0" encoding="UTF-8"?>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slide" Target="slide6.xml"/></Relationships>
</file>

<file path=ppt/slides/_rels/slide11.xml.rels><?xml version="1.0" encoding="UTF-8"?>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slide" Target="slide6.xml"/></Relationships>
</file>

<file path=ppt/slides/_rels/slide12.xml.rels><?xml version="1.0" encoding="UTF-8"?>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?>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?>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95360" y="320040"/>
            <a:ext cx="384048" cy="384048"/>
          </a:xfrm>
          <a:prstGeom prst="rect">
            <a:avLst/>
          </a:prstGeom>
          <a:solidFill>
            <a:srgbClr val="444444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595360" y="914400"/>
            <a:ext cx="384048" cy="384048"/>
          </a:xfrm>
          <a:prstGeom prst="rect">
            <a:avLst/>
          </a:prstGeom>
          <a:solidFill>
            <a:srgbClr val="444444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595360" y="1508760"/>
            <a:ext cx="384048" cy="384048"/>
          </a:xfrm>
          <a:prstGeom prst="rect">
            <a:avLst/>
          </a:prstGeom>
          <a:solidFill>
            <a:srgbClr val="444444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95360" y="2103120"/>
            <a:ext cx="384048" cy="384048"/>
          </a:xfrm>
          <a:prstGeom prst="rect">
            <a:avLst/>
          </a:prstGeom>
          <a:solidFill>
            <a:srgbClr val="444444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595360" y="2697480"/>
            <a:ext cx="384048" cy="384048"/>
          </a:xfrm>
          <a:prstGeom prst="rect">
            <a:avLst/>
          </a:prstGeom>
          <a:solidFill>
            <a:srgbClr val="444444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595360" y="3291840"/>
            <a:ext cx="384048" cy="384048"/>
          </a:xfrm>
          <a:prstGeom prst="rect">
            <a:avLst/>
          </a:prstGeom>
          <a:solidFill>
            <a:srgbClr val="444444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595360" y="3886200"/>
            <a:ext cx="384048" cy="384048"/>
          </a:xfrm>
          <a:prstGeom prst="rect">
            <a:avLst/>
          </a:prstGeom>
          <a:solidFill>
            <a:srgbClr val="444444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595360" y="4480560"/>
            <a:ext cx="384048" cy="384048"/>
          </a:xfrm>
          <a:prstGeom prst="rect">
            <a:avLst/>
          </a:prstGeom>
          <a:solidFill>
            <a:srgbClr val="444444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458200" y="0"/>
            <a:ext cx="685800" cy="514350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595360" y="320040"/>
            <a:ext cx="384048" cy="384048"/>
          </a:xfrm>
          <a:prstGeom prst="rect">
            <a:avLst/>
          </a:prstGeom>
          <a:solidFill>
            <a:srgbClr val="444444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595360" y="914400"/>
            <a:ext cx="384048" cy="384048"/>
          </a:xfrm>
          <a:prstGeom prst="rect">
            <a:avLst/>
          </a:prstGeom>
          <a:solidFill>
            <a:srgbClr val="444444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595360" y="1508760"/>
            <a:ext cx="384048" cy="384048"/>
          </a:xfrm>
          <a:prstGeom prst="rect">
            <a:avLst/>
          </a:prstGeom>
          <a:solidFill>
            <a:srgbClr val="444444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595360" y="2103120"/>
            <a:ext cx="384048" cy="384048"/>
          </a:xfrm>
          <a:prstGeom prst="rect">
            <a:avLst/>
          </a:prstGeom>
          <a:solidFill>
            <a:srgbClr val="444444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95360" y="2697480"/>
            <a:ext cx="384048" cy="384048"/>
          </a:xfrm>
          <a:prstGeom prst="rect">
            <a:avLst/>
          </a:prstGeom>
          <a:solidFill>
            <a:srgbClr val="444444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95360" y="3291840"/>
            <a:ext cx="384048" cy="384048"/>
          </a:xfrm>
          <a:prstGeom prst="rect">
            <a:avLst/>
          </a:prstGeom>
          <a:solidFill>
            <a:srgbClr val="444444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595360" y="3886200"/>
            <a:ext cx="384048" cy="384048"/>
          </a:xfrm>
          <a:prstGeom prst="rect">
            <a:avLst/>
          </a:prstGeom>
          <a:solidFill>
            <a:srgbClr val="444444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595360" y="4480560"/>
            <a:ext cx="384048" cy="384048"/>
          </a:xfrm>
          <a:prstGeom prst="rect">
            <a:avLst/>
          </a:prstGeom>
          <a:solidFill>
            <a:srgbClr val="444444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7200" y="731520"/>
            <a:ext cx="7772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0" b="1" dirty="0">
                <a:solidFill>
                  <a:srgbClr val="E8B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CineClip</a:t>
            </a:r>
            <a:endParaRPr lang="en-US" sz="7200" dirty="0"/>
          </a:p>
        </p:txBody>
      </p:sp>
      <p:sp>
        <p:nvSpPr>
          <p:cNvPr id="21" name="Text 19"/>
          <p:cNvSpPr/>
          <p:nvPr/>
        </p:nvSpPr>
        <p:spPr>
          <a:xfrm>
            <a:off x="457200" y="1920240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Adivina la película. Un fotograma a la vez.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457200" y="2606040"/>
            <a:ext cx="5029200" cy="36576"/>
          </a:xfrm>
          <a:prstGeom prst="rect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7200" y="2743200"/>
            <a:ext cx="7315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de Fin de Grado Superior — DAM</a:t>
            </a:r>
            <a:endParaRPr lang="en-US" sz="1400" dirty="0"/>
          </a:p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Sergio González Chacón</a:t>
            </a:r>
            <a:endParaRPr lang="en-US" sz="1400" dirty="0"/>
          </a:p>
          <a:p>
            <a:pPr marL="0" indent="0">
              <a:buNone/>
            </a:pPr>
            <a:r>
              <a:rPr lang="en-US" sz="13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2025 – 2026  ·  Junio 2026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457200" y="4297680"/>
            <a:ext cx="1417320" cy="384048"/>
          </a:xfrm>
          <a:prstGeom prst="roundRect">
            <a:avLst>
              <a:gd name="adj" fmla="val 11905"/>
            </a:avLst>
          </a:prstGeom>
          <a:solidFill>
            <a:srgbClr val="1E1E1E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7200" y="4297680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Native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1993392" y="4297680"/>
            <a:ext cx="1417320" cy="384048"/>
          </a:xfrm>
          <a:prstGeom prst="roundRect">
            <a:avLst>
              <a:gd name="adj" fmla="val 11905"/>
            </a:avLst>
          </a:prstGeom>
          <a:solidFill>
            <a:srgbClr val="1E1E1E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993392" y="4297680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 SDK 54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529584" y="4297680"/>
            <a:ext cx="1417320" cy="384048"/>
          </a:xfrm>
          <a:prstGeom prst="roundRect">
            <a:avLst>
              <a:gd name="adj" fmla="val 11905"/>
            </a:avLst>
          </a:prstGeom>
          <a:solidFill>
            <a:srgbClr val="1E1E1E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529584" y="4297680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Firebase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065776" y="4297680"/>
            <a:ext cx="1417320" cy="384048"/>
          </a:xfrm>
          <a:prstGeom prst="roundRect">
            <a:avLst>
              <a:gd name="adj" fmla="val 11905"/>
            </a:avLst>
          </a:prstGeom>
          <a:solidFill>
            <a:srgbClr val="1E1E1E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065776" y="4297680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TypeScript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601968" y="4297680"/>
            <a:ext cx="1417320" cy="384048"/>
          </a:xfrm>
          <a:prstGeom prst="roundRect">
            <a:avLst>
              <a:gd name="adj" fmla="val 11905"/>
            </a:avLst>
          </a:prstGeom>
          <a:solidFill>
            <a:srgbClr val="1E1E1E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601968" y="4297680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TMDB API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Motivación y Propuesta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960120"/>
            <a:ext cx="3931920" cy="3566160"/>
          </a:xfrm>
          <a:prstGeom prst="rect">
            <a:avLst/>
          </a:prstGeom>
          <a:solidFill>
            <a:srgbClr val="1E1E1E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960120"/>
            <a:ext cx="3931920" cy="411480"/>
          </a:xfrm>
          <a:prstGeom prst="rect">
            <a:avLst/>
          </a:prstGeom>
          <a:solidFill>
            <a:srgbClr val="E53935"/>
          </a:solidFill>
          <a:ln w="12700">
            <a:solidFill>
              <a:srgbClr val="E539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9601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El problema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1463040"/>
            <a:ext cx="356616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Framed y Moviedle: solo web, sin app móvil real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única partida al día por usuario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contenido localizado en español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ranking global ni comunidad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846320" y="960120"/>
            <a:ext cx="3931920" cy="3566160"/>
          </a:xfrm>
          <a:prstGeom prst="rect">
            <a:avLst/>
          </a:prstGeom>
          <a:solidFill>
            <a:srgbClr val="1E1E1E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846320" y="960120"/>
            <a:ext cx="3931920" cy="411480"/>
          </a:xfrm>
          <a:prstGeom prst="rect">
            <a:avLst/>
          </a:prstGeom>
          <a:solidFill>
            <a:srgbClr val="43A047"/>
          </a:solidFill>
          <a:ln w="12700">
            <a:solidFill>
              <a:srgbClr val="43A04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46320" y="9601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CineClip resuelve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029200" y="1463040"/>
            <a:ext cx="356616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Android nativa + Web desde un solo código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Partidas ilimitadas, sin restricción diaria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Contenido 100% en español vía TMDB API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Ranking global persistente en Firebase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CineClip – TFG DAM 2025-2026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Stack Tecnológico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1005840"/>
            <a:ext cx="2697480" cy="1508760"/>
          </a:xfrm>
          <a:prstGeom prst="rect">
            <a:avLst/>
          </a:prstGeom>
          <a:solidFill>
            <a:srgbClr val="1E1E1E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74320" y="1005840"/>
            <a:ext cx="109728" cy="1508760"/>
          </a:xfrm>
          <a:prstGeom prst="rect">
            <a:avLst/>
          </a:prstGeom>
          <a:solidFill>
            <a:srgbClr val="61DAFB"/>
          </a:solidFill>
          <a:ln w="12700">
            <a:solidFill>
              <a:srgbClr val="61DAF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115568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Native + Expo SDK 54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1664208"/>
            <a:ext cx="2423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multiplataforma (Android + Web)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154680" y="1005840"/>
            <a:ext cx="2697480" cy="1508760"/>
          </a:xfrm>
          <a:prstGeom prst="rect">
            <a:avLst/>
          </a:prstGeom>
          <a:solidFill>
            <a:srgbClr val="1E1E1E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54680" y="1005840"/>
            <a:ext cx="109728" cy="1508760"/>
          </a:xfrm>
          <a:prstGeom prst="rect">
            <a:avLst/>
          </a:prstGeom>
          <a:solidFill>
            <a:srgbClr val="3178C6"/>
          </a:solidFill>
          <a:ln w="12700">
            <a:solidFill>
              <a:srgbClr val="3178C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37560" y="1115568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TypeScript 5.x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337560" y="1664208"/>
            <a:ext cx="2423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Lenguaje principal · Tipado estático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035040" y="1005840"/>
            <a:ext cx="2697480" cy="1508760"/>
          </a:xfrm>
          <a:prstGeom prst="rect">
            <a:avLst/>
          </a:prstGeom>
          <a:solidFill>
            <a:srgbClr val="1E1E1E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035040" y="1005840"/>
            <a:ext cx="109728" cy="1508760"/>
          </a:xfrm>
          <a:prstGeom prst="rect">
            <a:avLst/>
          </a:prstGeom>
          <a:solidFill>
            <a:srgbClr val="FFCA28"/>
          </a:solidFill>
          <a:ln w="12700">
            <a:solidFill>
              <a:srgbClr val="FFCA2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17920" y="1115568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Firebase Firestore + Auth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217920" y="1664208"/>
            <a:ext cx="2423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de datos en la nube + Autenticación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74320" y="2697480"/>
            <a:ext cx="2697480" cy="1508760"/>
          </a:xfrm>
          <a:prstGeom prst="rect">
            <a:avLst/>
          </a:prstGeom>
          <a:solidFill>
            <a:srgbClr val="1E1E1E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74320" y="2697480"/>
            <a:ext cx="109728" cy="1508760"/>
          </a:xfrm>
          <a:prstGeom prst="rect">
            <a:avLst/>
          </a:prstGeom>
          <a:solidFill>
            <a:srgbClr val="01D277"/>
          </a:solidFill>
          <a:ln w="12700">
            <a:solidFill>
              <a:srgbClr val="01D27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2807208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TMDB API v3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57200" y="3355848"/>
            <a:ext cx="2423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Metadatos y backdrops en español · 3 endpoints/partida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154680" y="2697480"/>
            <a:ext cx="2697480" cy="1508760"/>
          </a:xfrm>
          <a:prstGeom prst="rect">
            <a:avLst/>
          </a:prstGeom>
          <a:solidFill>
            <a:srgbClr val="1E1E1E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154680" y="2697480"/>
            <a:ext cx="109728" cy="1508760"/>
          </a:xfrm>
          <a:prstGeom prst="rect">
            <a:avLst/>
          </a:prstGeom>
          <a:solidFill>
            <a:srgbClr val="000020"/>
          </a:solidFill>
          <a:ln w="12700">
            <a:solidFill>
              <a:srgbClr val="00002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337560" y="2807208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Navegación manual (App.tsx)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337560" y="3355848"/>
            <a:ext cx="2423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de pantallas mediante estado React (useState)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035040" y="2697480"/>
            <a:ext cx="2697480" cy="1508760"/>
          </a:xfrm>
          <a:prstGeom prst="rect">
            <a:avLst/>
          </a:prstGeom>
          <a:solidFill>
            <a:srgbClr val="1E1E1E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035040" y="2697480"/>
            <a:ext cx="109728" cy="1508760"/>
          </a:xfrm>
          <a:prstGeom prst="rect">
            <a:avLst/>
          </a:prstGeom>
          <a:solidFill>
            <a:srgbClr val="C21325"/>
          </a:solidFill>
          <a:ln w="12700">
            <a:solidFill>
              <a:srgbClr val="C2132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217920" y="2807208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Jest + RNTL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217920" y="3355848"/>
            <a:ext cx="2423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unitarias e integración · 48 casos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CineClip – TFG DAM 2025-2026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Arquitectura del Sistema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0" y="960120"/>
            <a:ext cx="9144000" cy="804672"/>
          </a:xfrm>
          <a:prstGeom prst="rect">
            <a:avLst/>
          </a:prstGeom>
          <a:solidFill>
            <a:srgbClr val="1E1E1E"/>
          </a:solidFill>
          <a:ln w="25400">
            <a:solidFill>
              <a:srgbClr val="7E57C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960120"/>
            <a:ext cx="164592" cy="804672"/>
          </a:xfrm>
          <a:prstGeom prst="rect">
            <a:avLst/>
          </a:prstGeom>
          <a:solidFill>
            <a:srgbClr val="7E57C2"/>
          </a:solidFill>
          <a:ln w="12700">
            <a:solidFill>
              <a:srgbClr val="7E57C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56032" y="1014984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7E57C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Presentation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256032" y="1380744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Views + ViewModels (MVVM) · React Native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480560" y="1764792"/>
            <a:ext cx="0" cy="155448"/>
          </a:xfrm>
          <a:prstGeom prst="line">
            <a:avLst/>
          </a:prstGeom>
          <a:noFill/>
          <a:ln w="19050">
            <a:solidFill>
              <a:srgbClr val="44444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82880" y="1920240"/>
            <a:ext cx="8778240" cy="804672"/>
          </a:xfrm>
          <a:prstGeom prst="rect">
            <a:avLst/>
          </a:prstGeom>
          <a:solidFill>
            <a:srgbClr val="1E1E1E"/>
          </a:solidFill>
          <a:ln w="25400">
            <a:solidFill>
              <a:srgbClr val="E8B84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82880" y="1920240"/>
            <a:ext cx="164592" cy="804672"/>
          </a:xfrm>
          <a:prstGeom prst="rect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38912" y="1975104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8B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Domain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38912" y="2340864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Entidades · Repositorios (interfaces) · Casos de uso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480560" y="2724912"/>
            <a:ext cx="0" cy="155448"/>
          </a:xfrm>
          <a:prstGeom prst="line">
            <a:avLst/>
          </a:prstGeom>
          <a:noFill/>
          <a:ln w="19050">
            <a:solidFill>
              <a:srgbClr val="44444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880360"/>
            <a:ext cx="8412480" cy="804672"/>
          </a:xfrm>
          <a:prstGeom prst="rect">
            <a:avLst/>
          </a:prstGeom>
          <a:solidFill>
            <a:srgbClr val="1E1E1E"/>
          </a:solidFill>
          <a:ln w="25400">
            <a:solidFill>
              <a:srgbClr val="26A69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2880360"/>
            <a:ext cx="164592" cy="804672"/>
          </a:xfrm>
          <a:prstGeom prst="rect">
            <a:avLst/>
          </a:prstGeom>
          <a:solidFill>
            <a:srgbClr val="26A69A"/>
          </a:solidFill>
          <a:ln w="12700">
            <a:solidFill>
              <a:srgbClr val="26A69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1792" y="2935224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6A69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1792" y="3300984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TmdbMovieRepository · FirebaseRankingRepository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480560" y="3685032"/>
            <a:ext cx="0" cy="155448"/>
          </a:xfrm>
          <a:prstGeom prst="line">
            <a:avLst/>
          </a:prstGeom>
          <a:noFill/>
          <a:ln w="19050">
            <a:solidFill>
              <a:srgbClr val="44444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8640" y="3840480"/>
            <a:ext cx="8046720" cy="804672"/>
          </a:xfrm>
          <a:prstGeom prst="rect">
            <a:avLst/>
          </a:prstGeom>
          <a:solidFill>
            <a:srgbClr val="1E1E1E"/>
          </a:solidFill>
          <a:ln w="25400">
            <a:solidFill>
              <a:srgbClr val="546E7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8640" y="3840480"/>
            <a:ext cx="164592" cy="804672"/>
          </a:xfrm>
          <a:prstGeom prst="rect">
            <a:avLst/>
          </a:prstGeom>
          <a:solidFill>
            <a:srgbClr val="546E7A"/>
          </a:solidFill>
          <a:ln w="12700">
            <a:solidFill>
              <a:srgbClr val="546E7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04672" y="3895344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546E7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Infrastructure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804672" y="4261104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 · HTTP client (language=es-ES)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858000" y="960120"/>
            <a:ext cx="2011680" cy="914400"/>
          </a:xfrm>
          <a:prstGeom prst="rect">
            <a:avLst/>
          </a:prstGeom>
          <a:solidFill>
            <a:srgbClr val="1A1A2E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858000" y="960120"/>
            <a:ext cx="2011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Architecture</a:t>
            </a:r>
            <a:endParaRPr lang="en-US" sz="13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Principios SOLID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CineClip – TFG DAM 2025-2026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Mecánica de Juego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914400"/>
            <a:ext cx="1920240" cy="2194560"/>
          </a:xfrm>
          <a:prstGeom prst="rect">
            <a:avLst/>
          </a:prstGeom>
          <a:solidFill>
            <a:srgbClr val="1E1E1E"/>
          </a:solidFill>
          <a:ln w="25400">
            <a:solidFill>
              <a:srgbClr val="5C6BC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005840"/>
            <a:ext cx="640080" cy="640080"/>
          </a:xfrm>
          <a:prstGeom prst="ellipse">
            <a:avLst/>
          </a:prstGeom>
          <a:solidFill>
            <a:srgbClr val="5C6BC0"/>
          </a:solidFill>
          <a:ln w="12700">
            <a:solidFill>
              <a:srgbClr val="5C6BC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0058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Inicio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74320" y="2194560"/>
            <a:ext cx="1920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Backdrop [0]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ambiguo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194560" y="2011680"/>
            <a:ext cx="274320" cy="0"/>
          </a:xfrm>
          <a:prstGeom prst="line">
            <a:avLst/>
          </a:prstGeom>
          <a:noFill/>
          <a:ln w="25400">
            <a:solidFill>
              <a:srgbClr val="44444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468880" y="914400"/>
            <a:ext cx="1920240" cy="2194560"/>
          </a:xfrm>
          <a:prstGeom prst="rect">
            <a:avLst/>
          </a:prstGeom>
          <a:solidFill>
            <a:srgbClr val="1E1E1E"/>
          </a:solidFill>
          <a:ln w="25400">
            <a:solidFill>
              <a:srgbClr val="EF6C0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108960" y="1005840"/>
            <a:ext cx="640080" cy="640080"/>
          </a:xfrm>
          <a:prstGeom prst="ellipse">
            <a:avLst/>
          </a:prstGeom>
          <a:solidFill>
            <a:srgbClr val="EF6C00"/>
          </a:solidFill>
          <a:ln w="12700">
            <a:solidFill>
              <a:srgbClr val="EF6C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108960" y="10058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2468880" y="178308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Fallo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468880" y="2194560"/>
            <a:ext cx="1920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Backdrop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Pista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389120" y="2011680"/>
            <a:ext cx="274320" cy="0"/>
          </a:xfrm>
          <a:prstGeom prst="line">
            <a:avLst/>
          </a:prstGeom>
          <a:noFill/>
          <a:ln w="25400">
            <a:solidFill>
              <a:srgbClr val="44444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663440" y="914400"/>
            <a:ext cx="1920240" cy="2194560"/>
          </a:xfrm>
          <a:prstGeom prst="rect">
            <a:avLst/>
          </a:prstGeom>
          <a:solidFill>
            <a:srgbClr val="1E1E1E"/>
          </a:solidFill>
          <a:ln w="25400">
            <a:solidFill>
              <a:srgbClr val="EF6C0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303520" y="1005840"/>
            <a:ext cx="640080" cy="640080"/>
          </a:xfrm>
          <a:prstGeom prst="ellipse">
            <a:avLst/>
          </a:prstGeom>
          <a:solidFill>
            <a:srgbClr val="EF6C00"/>
          </a:solidFill>
          <a:ln w="12700">
            <a:solidFill>
              <a:srgbClr val="EF6C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303520" y="10058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4663440" y="178308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Fallo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663440" y="2194560"/>
            <a:ext cx="1920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Backdrop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Pista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720840" y="2011680"/>
            <a:ext cx="274320" cy="0"/>
          </a:xfrm>
          <a:prstGeom prst="line">
            <a:avLst/>
          </a:prstGeom>
          <a:noFill/>
          <a:ln w="25400">
            <a:solidFill>
              <a:srgbClr val="44444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995160" y="914400"/>
            <a:ext cx="1920240" cy="960120"/>
          </a:xfrm>
          <a:prstGeom prst="rect">
            <a:avLst/>
          </a:prstGeom>
          <a:solidFill>
            <a:srgbClr val="0A2E0A"/>
          </a:solidFill>
          <a:ln w="25400">
            <a:solidFill>
              <a:srgbClr val="43A04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995160" y="91440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43A0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Acierto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995160" y="1371600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(6 - intentos) × 100 pts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995160" y="2057400"/>
            <a:ext cx="1920240" cy="960120"/>
          </a:xfrm>
          <a:prstGeom prst="rect">
            <a:avLst/>
          </a:prstGeom>
          <a:solidFill>
            <a:srgbClr val="2E0A0A"/>
          </a:solidFill>
          <a:ln w="25400">
            <a:solidFill>
              <a:srgbClr val="E5393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995160" y="205740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E5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Intentos agotados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995160" y="2514600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Respuesta revelada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74320" y="3291840"/>
            <a:ext cx="6400800" cy="1371600"/>
          </a:xfrm>
          <a:prstGeom prst="rect">
            <a:avLst/>
          </a:prstGeom>
          <a:solidFill>
            <a:srgbClr val="111111"/>
          </a:solidFill>
          <a:ln w="12700">
            <a:solidFill>
              <a:srgbClr val="A67C2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57200" y="333756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Pistas progresivas: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57200" y="3703320"/>
            <a:ext cx="5943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Fallo 1 → Año de estreno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Fallo 2 → Director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Fallo 3 → Género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Fallo 4 → Reparto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CineClip – TFG DAM 2025-2026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2860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Pantallas de la Aplicación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583680" y="29260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dirty="0">
                <a:solidFill>
                  <a:srgbClr val="A67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(pulsa cada imagen para ampliar)</a:t>
            </a:r>
            <a:endParaRPr lang="en-US" sz="1100" dirty="0"/>
          </a:p>
        </p:txBody>
      </p:sp>
      <p:sp>
        <p:nvSpPr>
          <p:cNvPr id="5" name="Shape 3">
            <a:hlinkClick r:id="rId3" action="ppaction://hlinksldjump"/>
          </p:cNvPr>
          <p:cNvSpPr/>
          <p:nvPr/>
        </p:nvSpPr>
        <p:spPr>
          <a:xfrm>
            <a:off x="182880" y="914400"/>
            <a:ext cx="1572768" cy="1435608"/>
          </a:xfrm>
          <a:prstGeom prst="rect">
            <a:avLst/>
          </a:prstGeom>
          <a:solidFill>
            <a:srgbClr val="1E1E1E"/>
          </a:solidFill>
          <a:ln w="12700">
            <a:solidFill>
              <a:srgbClr val="E8B84B"/>
            </a:solidFill>
            <a:prstDash val="solid"/>
          </a:ln>
        </p:spPr>
      </p:sp>
      <p:pic>
        <p:nvPicPr>
          <p:cNvPr id="6" name="Image 0" descr="/home/claude/screen_login.png">
            <a:hlinkClick r:id="rId3" action="ppaction://hlinksldjump"/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219456" y="950976"/>
            <a:ext cx="1499616" cy="813816"/>
          </a:xfrm>
          <a:prstGeom prst="rect">
            <a:avLst/>
          </a:prstGeom>
        </p:spPr>
      </p:pic>
      <p:sp>
        <p:nvSpPr>
          <p:cNvPr id="7" name="Shape 4">
            <a:hlinkClick r:id="rId3" action="ppaction://hlinksldjump"/>
          </p:cNvPr>
          <p:cNvSpPr/>
          <p:nvPr/>
        </p:nvSpPr>
        <p:spPr>
          <a:xfrm>
            <a:off x="768096" y="1065276"/>
            <a:ext cx="402336" cy="402336"/>
          </a:xfrm>
          <a:prstGeom prst="ellipse">
            <a:avLst/>
          </a:prstGeom>
          <a:solidFill>
            <a:srgbClr val="000000">
              <a:alpha val="65000"/>
            </a:srgbClr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8" name="Text 5">
            <a:hlinkClick r:id="rId3" action="ppaction://hlinksldjump"/>
          </p:cNvPr>
          <p:cNvSpPr/>
          <p:nvPr/>
        </p:nvSpPr>
        <p:spPr>
          <a:xfrm>
            <a:off x="768096" y="1065276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u="sng" dirty="0">
                <a:solidFill>
                  <a:srgbClr val="E8B84B"/>
                </a:solidFill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82880" y="1874520"/>
            <a:ext cx="157276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</a:t>
            </a:r>
            <a:endParaRPr lang="en-US" sz="1200" dirty="0"/>
          </a:p>
        </p:txBody>
      </p:sp>
      <p:sp>
        <p:nvSpPr>
          <p:cNvPr id="10" name="Shape 7">
            <a:hlinkClick r:id="rId5" action="ppaction://hlinksldjump"/>
          </p:cNvPr>
          <p:cNvSpPr/>
          <p:nvPr/>
        </p:nvSpPr>
        <p:spPr>
          <a:xfrm>
            <a:off x="1938528" y="914400"/>
            <a:ext cx="1572768" cy="1435608"/>
          </a:xfrm>
          <a:prstGeom prst="rect">
            <a:avLst/>
          </a:prstGeom>
          <a:solidFill>
            <a:srgbClr val="1E1E1E"/>
          </a:solidFill>
          <a:ln w="12700">
            <a:solidFill>
              <a:srgbClr val="E8B84B"/>
            </a:solidFill>
            <a:prstDash val="solid"/>
          </a:ln>
        </p:spPr>
      </p:sp>
      <p:pic>
        <p:nvPicPr>
          <p:cNvPr id="11" name="Image 1" descr="/home/claude/screen_game.png">
            <a:hlinkClick r:id="rId5" action="ppaction://hlinksldjump"/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975104" y="950976"/>
            <a:ext cx="1499616" cy="813816"/>
          </a:xfrm>
          <a:prstGeom prst="rect">
            <a:avLst/>
          </a:prstGeom>
        </p:spPr>
      </p:pic>
      <p:sp>
        <p:nvSpPr>
          <p:cNvPr id="12" name="Shape 8">
            <a:hlinkClick r:id="rId5" action="ppaction://hlinksldjump"/>
          </p:cNvPr>
          <p:cNvSpPr/>
          <p:nvPr/>
        </p:nvSpPr>
        <p:spPr>
          <a:xfrm>
            <a:off x="2523744" y="1065276"/>
            <a:ext cx="402336" cy="402336"/>
          </a:xfrm>
          <a:prstGeom prst="ellipse">
            <a:avLst/>
          </a:prstGeom>
          <a:solidFill>
            <a:srgbClr val="000000">
              <a:alpha val="65000"/>
            </a:srgbClr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13" name="Text 9">
            <a:hlinkClick r:id="rId5" action="ppaction://hlinksldjump"/>
          </p:cNvPr>
          <p:cNvSpPr/>
          <p:nvPr/>
        </p:nvSpPr>
        <p:spPr>
          <a:xfrm>
            <a:off x="2523744" y="1065276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u="sng" dirty="0">
                <a:solidFill>
                  <a:srgbClr val="E8B84B"/>
                </a:solidFill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1938528" y="1874520"/>
            <a:ext cx="157276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Juego</a:t>
            </a:r>
            <a:endParaRPr lang="en-US" sz="1200" dirty="0"/>
          </a:p>
        </p:txBody>
      </p:sp>
      <p:sp>
        <p:nvSpPr>
          <p:cNvPr id="15" name="Shape 11">
            <a:hlinkClick r:id="rId7" action="ppaction://hlinksldjump"/>
          </p:cNvPr>
          <p:cNvSpPr/>
          <p:nvPr/>
        </p:nvSpPr>
        <p:spPr>
          <a:xfrm>
            <a:off x="3694176" y="914400"/>
            <a:ext cx="1572768" cy="1435608"/>
          </a:xfrm>
          <a:prstGeom prst="rect">
            <a:avLst/>
          </a:prstGeom>
          <a:solidFill>
            <a:srgbClr val="1E1E1E"/>
          </a:solidFill>
          <a:ln w="12700">
            <a:solidFill>
              <a:srgbClr val="E8B84B"/>
            </a:solidFill>
            <a:prstDash val="solid"/>
          </a:ln>
        </p:spPr>
      </p:sp>
      <p:pic>
        <p:nvPicPr>
          <p:cNvPr id="16" name="Image 2" descr="/home/claude/screen_hints.png">
            <a:hlinkClick r:id="rId7" action="ppaction://hlinksldjump"/>
          </p:cNvPr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3730752" y="950976"/>
            <a:ext cx="1499616" cy="813816"/>
          </a:xfrm>
          <a:prstGeom prst="rect">
            <a:avLst/>
          </a:prstGeom>
        </p:spPr>
      </p:pic>
      <p:sp>
        <p:nvSpPr>
          <p:cNvPr id="17" name="Shape 12">
            <a:hlinkClick r:id="rId7" action="ppaction://hlinksldjump"/>
          </p:cNvPr>
          <p:cNvSpPr/>
          <p:nvPr/>
        </p:nvSpPr>
        <p:spPr>
          <a:xfrm>
            <a:off x="4279392" y="1065276"/>
            <a:ext cx="402336" cy="402336"/>
          </a:xfrm>
          <a:prstGeom prst="ellipse">
            <a:avLst/>
          </a:prstGeom>
          <a:solidFill>
            <a:srgbClr val="000000">
              <a:alpha val="65000"/>
            </a:srgbClr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18" name="Text 13">
            <a:hlinkClick r:id="rId7" action="ppaction://hlinksldjump"/>
          </p:cNvPr>
          <p:cNvSpPr/>
          <p:nvPr/>
        </p:nvSpPr>
        <p:spPr>
          <a:xfrm>
            <a:off x="4279392" y="1065276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u="sng" dirty="0">
                <a:solidFill>
                  <a:srgbClr val="E8B84B"/>
                </a:solidFill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3694176" y="1874520"/>
            <a:ext cx="157276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Pistas</a:t>
            </a:r>
            <a:endParaRPr lang="en-US" sz="1200" dirty="0"/>
          </a:p>
        </p:txBody>
      </p:sp>
      <p:sp>
        <p:nvSpPr>
          <p:cNvPr id="20" name="Shape 15">
            <a:hlinkClick r:id="rId9" action="ppaction://hlinksldjump"/>
          </p:cNvPr>
          <p:cNvSpPr/>
          <p:nvPr/>
        </p:nvSpPr>
        <p:spPr>
          <a:xfrm>
            <a:off x="5449824" y="914400"/>
            <a:ext cx="1572768" cy="1435608"/>
          </a:xfrm>
          <a:prstGeom prst="rect">
            <a:avLst/>
          </a:prstGeom>
          <a:solidFill>
            <a:srgbClr val="1E1E1E"/>
          </a:solidFill>
          <a:ln w="12700">
            <a:solidFill>
              <a:srgbClr val="E8B84B"/>
            </a:solidFill>
            <a:prstDash val="solid"/>
          </a:ln>
        </p:spPr>
      </p:sp>
      <p:pic>
        <p:nvPicPr>
          <p:cNvPr id="21" name="Image 3" descr="/home/claude/screen_result.png">
            <a:hlinkClick r:id="rId9" action="ppaction://hlinksldjump"/>
          </p:cNvPr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5486400" y="950976"/>
            <a:ext cx="1499616" cy="813816"/>
          </a:xfrm>
          <a:prstGeom prst="rect">
            <a:avLst/>
          </a:prstGeom>
        </p:spPr>
      </p:pic>
      <p:sp>
        <p:nvSpPr>
          <p:cNvPr id="22" name="Shape 16">
            <a:hlinkClick r:id="rId9" action="ppaction://hlinksldjump"/>
          </p:cNvPr>
          <p:cNvSpPr/>
          <p:nvPr/>
        </p:nvSpPr>
        <p:spPr>
          <a:xfrm>
            <a:off x="6035040" y="1065276"/>
            <a:ext cx="402336" cy="402336"/>
          </a:xfrm>
          <a:prstGeom prst="ellipse">
            <a:avLst/>
          </a:prstGeom>
          <a:solidFill>
            <a:srgbClr val="000000">
              <a:alpha val="65000"/>
            </a:srgbClr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23" name="Text 17">
            <a:hlinkClick r:id="rId9" action="ppaction://hlinksldjump"/>
          </p:cNvPr>
          <p:cNvSpPr/>
          <p:nvPr/>
        </p:nvSpPr>
        <p:spPr>
          <a:xfrm>
            <a:off x="6035040" y="1065276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u="sng" dirty="0">
                <a:solidFill>
                  <a:srgbClr val="E8B84B"/>
                </a:solidFill>
                <a:hlinkClick r:id="rId9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</a:t>
            </a:r>
            <a:endParaRPr lang="en-US" sz="1400" dirty="0"/>
          </a:p>
        </p:txBody>
      </p:sp>
      <p:sp>
        <p:nvSpPr>
          <p:cNvPr id="24" name="Text 18"/>
          <p:cNvSpPr/>
          <p:nvPr/>
        </p:nvSpPr>
        <p:spPr>
          <a:xfrm>
            <a:off x="5449824" y="1874520"/>
            <a:ext cx="157276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200" dirty="0"/>
          </a:p>
        </p:txBody>
      </p:sp>
      <p:sp>
        <p:nvSpPr>
          <p:cNvPr id="25" name="Shape 19">
            <a:hlinkClick r:id="rId11" action="ppaction://hlinksldjump"/>
          </p:cNvPr>
          <p:cNvSpPr/>
          <p:nvPr/>
        </p:nvSpPr>
        <p:spPr>
          <a:xfrm>
            <a:off x="7205472" y="914400"/>
            <a:ext cx="1572768" cy="1435608"/>
          </a:xfrm>
          <a:prstGeom prst="rect">
            <a:avLst/>
          </a:prstGeom>
          <a:solidFill>
            <a:srgbClr val="1E1E1E"/>
          </a:solidFill>
          <a:ln w="12700">
            <a:solidFill>
              <a:srgbClr val="E8B84B"/>
            </a:solidFill>
            <a:prstDash val="solid"/>
          </a:ln>
        </p:spPr>
      </p:sp>
      <p:pic>
        <p:nvPicPr>
          <p:cNvPr id="26" name="Image 4" descr="/home/claude/screen_ranking.png">
            <a:hlinkClick r:id="rId11" action="ppaction://hlinksldjump"/>
          </p:cNvPr>
          <p:cNvPicPr>
            <a:picLocks noChangeAspect="1"/>
          </p:cNvPicPr>
          <p:nvPr/>
        </p:nvPicPr>
        <p:blipFill>
          <a:blip r:embed="rId12"/>
          <a:srcRect/>
          <a:stretch/>
        </p:blipFill>
        <p:spPr>
          <a:xfrm>
            <a:off x="7242048" y="950976"/>
            <a:ext cx="1499616" cy="813816"/>
          </a:xfrm>
          <a:prstGeom prst="rect">
            <a:avLst/>
          </a:prstGeom>
        </p:spPr>
      </p:pic>
      <p:sp>
        <p:nvSpPr>
          <p:cNvPr id="27" name="Shape 20">
            <a:hlinkClick r:id="rId11" action="ppaction://hlinksldjump"/>
          </p:cNvPr>
          <p:cNvSpPr/>
          <p:nvPr/>
        </p:nvSpPr>
        <p:spPr>
          <a:xfrm>
            <a:off x="7790688" y="1065276"/>
            <a:ext cx="402336" cy="402336"/>
          </a:xfrm>
          <a:prstGeom prst="ellipse">
            <a:avLst/>
          </a:prstGeom>
          <a:solidFill>
            <a:srgbClr val="000000">
              <a:alpha val="65000"/>
            </a:srgbClr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28" name="Text 21">
            <a:hlinkClick r:id="rId11" action="ppaction://hlinksldjump"/>
          </p:cNvPr>
          <p:cNvSpPr/>
          <p:nvPr/>
        </p:nvSpPr>
        <p:spPr>
          <a:xfrm>
            <a:off x="7790688" y="1065276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u="sng" dirty="0">
                <a:solidFill>
                  <a:srgbClr val="E8B84B"/>
                </a:solidFill>
                <a:hlinkClick r:id="rId11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</a:t>
            </a:r>
            <a:endParaRPr lang="en-US" sz="1400" dirty="0"/>
          </a:p>
        </p:txBody>
      </p:sp>
      <p:sp>
        <p:nvSpPr>
          <p:cNvPr id="29" name="Text 22"/>
          <p:cNvSpPr/>
          <p:nvPr/>
        </p:nvSpPr>
        <p:spPr>
          <a:xfrm>
            <a:off x="7205472" y="1874520"/>
            <a:ext cx="157276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Ranking</a:t>
            </a:r>
            <a:endParaRPr lang="en-US" sz="1200" dirty="0"/>
          </a:p>
        </p:txBody>
      </p:sp>
      <p:sp>
        <p:nvSpPr>
          <p:cNvPr id="30" name="Shape 23"/>
          <p:cNvSpPr/>
          <p:nvPr/>
        </p:nvSpPr>
        <p:spPr>
          <a:xfrm>
            <a:off x="182880" y="1965960"/>
            <a:ext cx="8778240" cy="27432"/>
          </a:xfrm>
          <a:prstGeom prst="rect">
            <a:avLst/>
          </a:prstGeom>
          <a:solidFill>
            <a:srgbClr val="444444"/>
          </a:solidFill>
          <a:ln w="12700">
            <a:solidFill>
              <a:srgbClr val="444444"/>
            </a:solidFill>
            <a:prstDash val="solid"/>
          </a:ln>
        </p:spPr>
      </p:sp>
      <p:sp>
        <p:nvSpPr>
          <p:cNvPr id="31" name="Text 24"/>
          <p:cNvSpPr/>
          <p:nvPr/>
        </p:nvSpPr>
        <p:spPr>
          <a:xfrm>
            <a:off x="274320" y="2084832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Pantalla de juego con pistas progresivas activas →</a:t>
            </a:r>
            <a:endParaRPr lang="en-US" sz="1200" dirty="0"/>
          </a:p>
        </p:txBody>
      </p:sp>
      <p:pic>
        <p:nvPicPr>
          <p:cNvPr id="32" name="Image 5" descr="/home/claude/screen_hints.png">
            <a:hlinkClick r:id="rId7" action="ppaction://hlinksldjump"/>
          </p:cNvPr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274320" y="2514600"/>
            <a:ext cx="8595360" cy="2286000"/>
          </a:xfrm>
          <a:prstGeom prst="rect">
            <a:avLst/>
          </a:prstGeom>
        </p:spPr>
      </p:pic>
      <p:sp>
        <p:nvSpPr>
          <p:cNvPr id="33" name="Shape 25"/>
          <p:cNvSpPr/>
          <p:nvPr/>
        </p:nvSpPr>
        <p:spPr>
          <a:xfrm>
            <a:off x="274320" y="2514600"/>
            <a:ext cx="8595360" cy="320040"/>
          </a:xfrm>
          <a:prstGeom prst="rect">
            <a:avLst/>
          </a:prstGeom>
          <a:solidFill>
            <a:srgbClr val="000000">
              <a:alpha val="60000"/>
            </a:srgbClr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34" name="Text 26"/>
          <p:cNvSpPr/>
          <p:nvPr/>
        </p:nvSpPr>
        <p:spPr>
          <a:xfrm>
            <a:off x="274320" y="2514600"/>
            <a:ext cx="8595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Juego con 4 pistas desveladas tras fallos · backdrop cambiado · 1 intento restante</a:t>
            </a:r>
            <a:endParaRPr lang="en-US" sz="1000" dirty="0"/>
          </a:p>
        </p:txBody>
      </p:sp>
      <p:sp>
        <p:nvSpPr>
          <p:cNvPr id="35" name="Shape 27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6" name="Text 28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CineClip – TFG DAM 2025-2026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screen_login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347472"/>
          </a:xfrm>
          <a:prstGeom prst="rect">
            <a:avLst/>
          </a:prstGeom>
          <a:solidFill>
            <a:srgbClr val="000000">
              <a:alpha val="70000"/>
            </a:srgbClr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274320" y="0"/>
            <a:ext cx="7315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/ Registro — Firebase Authentication</a:t>
            </a:r>
            <a:endParaRPr lang="en-US" sz="1400" dirty="0"/>
          </a:p>
        </p:txBody>
      </p:sp>
      <p:sp>
        <p:nvSpPr>
          <p:cNvPr id="5" name="Shape 2">
            <a:hlinkClick r:id="rId4" action="ppaction://hlinksldjump"/>
          </p:cNvPr>
          <p:cNvSpPr/>
          <p:nvPr/>
        </p:nvSpPr>
        <p:spPr>
          <a:xfrm>
            <a:off x="7863840" y="45720"/>
            <a:ext cx="1097280" cy="256032"/>
          </a:xfrm>
          <a:prstGeom prst="rect">
            <a:avLst/>
          </a:prstGeom>
          <a:solidFill>
            <a:srgbClr val="1E1E1E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6" name="Text 3">
            <a:hlinkClick r:id="rId4" action="ppaction://hlinksldjump"/>
          </p:cNvPr>
          <p:cNvSpPr/>
          <p:nvPr/>
        </p:nvSpPr>
        <p:spPr>
          <a:xfrm>
            <a:off x="7863840" y="45720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u="sng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Volver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screen_game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347472"/>
          </a:xfrm>
          <a:prstGeom prst="rect">
            <a:avLst/>
          </a:prstGeom>
          <a:solidFill>
            <a:srgbClr val="000000">
              <a:alpha val="70000"/>
            </a:srgbClr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274320" y="0"/>
            <a:ext cx="7315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Pantalla de Juego — Backdrop inicial · 5 intentos</a:t>
            </a:r>
            <a:endParaRPr lang="en-US" sz="1400" dirty="0"/>
          </a:p>
        </p:txBody>
      </p:sp>
      <p:sp>
        <p:nvSpPr>
          <p:cNvPr id="5" name="Shape 2">
            <a:hlinkClick r:id="rId4" action="ppaction://hlinksldjump"/>
          </p:cNvPr>
          <p:cNvSpPr/>
          <p:nvPr/>
        </p:nvSpPr>
        <p:spPr>
          <a:xfrm>
            <a:off x="7863840" y="45720"/>
            <a:ext cx="1097280" cy="256032"/>
          </a:xfrm>
          <a:prstGeom prst="rect">
            <a:avLst/>
          </a:prstGeom>
          <a:solidFill>
            <a:srgbClr val="1E1E1E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6" name="Text 3">
            <a:hlinkClick r:id="rId4" action="ppaction://hlinksldjump"/>
          </p:cNvPr>
          <p:cNvSpPr/>
          <p:nvPr/>
        </p:nvSpPr>
        <p:spPr>
          <a:xfrm>
            <a:off x="7863840" y="45720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u="sng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Volver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screen_hints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347472"/>
          </a:xfrm>
          <a:prstGeom prst="rect">
            <a:avLst/>
          </a:prstGeom>
          <a:solidFill>
            <a:srgbClr val="000000">
              <a:alpha val="70000"/>
            </a:srgbClr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274320" y="0"/>
            <a:ext cx="7315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Pantalla de Juego — Pistas progresivas tras fallos · 1 intento restante</a:t>
            </a:r>
            <a:endParaRPr lang="en-US" sz="1400" dirty="0"/>
          </a:p>
        </p:txBody>
      </p:sp>
      <p:sp>
        <p:nvSpPr>
          <p:cNvPr id="5" name="Shape 2">
            <a:hlinkClick r:id="rId4" action="ppaction://hlinksldjump"/>
          </p:cNvPr>
          <p:cNvSpPr/>
          <p:nvPr/>
        </p:nvSpPr>
        <p:spPr>
          <a:xfrm>
            <a:off x="7863840" y="45720"/>
            <a:ext cx="1097280" cy="256032"/>
          </a:xfrm>
          <a:prstGeom prst="rect">
            <a:avLst/>
          </a:prstGeom>
          <a:solidFill>
            <a:srgbClr val="1E1E1E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6" name="Text 3">
            <a:hlinkClick r:id="rId4" action="ppaction://hlinksldjump"/>
          </p:cNvPr>
          <p:cNvSpPr/>
          <p:nvPr/>
        </p:nvSpPr>
        <p:spPr>
          <a:xfrm>
            <a:off x="7863840" y="45720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u="sng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Volver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screen_result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347472"/>
          </a:xfrm>
          <a:prstGeom prst="rect">
            <a:avLst/>
          </a:prstGeom>
          <a:solidFill>
            <a:srgbClr val="000000">
              <a:alpha val="70000"/>
            </a:srgbClr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274320" y="0"/>
            <a:ext cx="7315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 — Game Over · metadatos completos en español</a:t>
            </a:r>
            <a:endParaRPr lang="en-US" sz="1400" dirty="0"/>
          </a:p>
        </p:txBody>
      </p:sp>
      <p:sp>
        <p:nvSpPr>
          <p:cNvPr id="5" name="Shape 2">
            <a:hlinkClick r:id="rId4" action="ppaction://hlinksldjump"/>
          </p:cNvPr>
          <p:cNvSpPr/>
          <p:nvPr/>
        </p:nvSpPr>
        <p:spPr>
          <a:xfrm>
            <a:off x="7863840" y="45720"/>
            <a:ext cx="1097280" cy="256032"/>
          </a:xfrm>
          <a:prstGeom prst="rect">
            <a:avLst/>
          </a:prstGeom>
          <a:solidFill>
            <a:srgbClr val="1E1E1E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6" name="Text 3">
            <a:hlinkClick r:id="rId4" action="ppaction://hlinksldjump"/>
          </p:cNvPr>
          <p:cNvSpPr/>
          <p:nvPr/>
        </p:nvSpPr>
        <p:spPr>
          <a:xfrm>
            <a:off x="7863840" y="45720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u="sng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Volver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screen_ranking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347472"/>
          </a:xfrm>
          <a:prstGeom prst="rect">
            <a:avLst/>
          </a:prstGeom>
          <a:solidFill>
            <a:srgbClr val="000000">
              <a:alpha val="70000"/>
            </a:srgbClr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274320" y="0"/>
            <a:ext cx="7315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Ranking Global — Clasificación por puntuación (Firebase Firestore)</a:t>
            </a:r>
            <a:endParaRPr lang="en-US" sz="1400" dirty="0"/>
          </a:p>
        </p:txBody>
      </p:sp>
      <p:sp>
        <p:nvSpPr>
          <p:cNvPr id="5" name="Shape 2">
            <a:hlinkClick r:id="rId4" action="ppaction://hlinksldjump"/>
          </p:cNvPr>
          <p:cNvSpPr/>
          <p:nvPr/>
        </p:nvSpPr>
        <p:spPr>
          <a:xfrm>
            <a:off x="7863840" y="45720"/>
            <a:ext cx="1097280" cy="256032"/>
          </a:xfrm>
          <a:prstGeom prst="rect">
            <a:avLst/>
          </a:prstGeom>
          <a:solidFill>
            <a:srgbClr val="1E1E1E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6" name="Text 3">
            <a:hlinkClick r:id="rId4" action="ppaction://hlinksldjump"/>
          </p:cNvPr>
          <p:cNvSpPr/>
          <p:nvPr/>
        </p:nvSpPr>
        <p:spPr>
          <a:xfrm>
            <a:off x="7863840" y="45720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u="sng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Volver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Plan de Pruebas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914400"/>
            <a:ext cx="2286000" cy="2286000"/>
          </a:xfrm>
          <a:prstGeom prst="rect">
            <a:avLst/>
          </a:prstGeom>
          <a:solidFill>
            <a:srgbClr val="1E1E1E"/>
          </a:solidFill>
          <a:ln w="25400">
            <a:solidFill>
              <a:srgbClr val="E8B8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10058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200" b="1" dirty="0">
                <a:solidFill>
                  <a:srgbClr val="E8B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48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365760" y="2331720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casos de prueba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017520" y="960120"/>
            <a:ext cx="5669280" cy="804672"/>
          </a:xfrm>
          <a:prstGeom prst="rect">
            <a:avLst/>
          </a:prstGeom>
          <a:solidFill>
            <a:srgbClr val="1E1E1E"/>
          </a:solidFill>
          <a:ln w="12700">
            <a:solidFill>
              <a:srgbClr val="5C6BC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017520" y="960120"/>
            <a:ext cx="128016" cy="804672"/>
          </a:xfrm>
          <a:prstGeom prst="rect">
            <a:avLst/>
          </a:prstGeom>
          <a:solidFill>
            <a:srgbClr val="5C6BC0"/>
          </a:solidFill>
          <a:ln w="12700">
            <a:solidFill>
              <a:srgbClr val="5C6BC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36976" y="1161288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Unitarias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126480" y="1143000"/>
            <a:ext cx="1005840" cy="411480"/>
          </a:xfrm>
          <a:prstGeom prst="rect">
            <a:avLst/>
          </a:prstGeom>
          <a:solidFill>
            <a:srgbClr val="0A2E0A"/>
          </a:solidFill>
          <a:ln w="12700">
            <a:solidFill>
              <a:srgbClr val="43A04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126480" y="1143000"/>
            <a:ext cx="1005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3A0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15 PASS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017520" y="1920240"/>
            <a:ext cx="5669280" cy="804672"/>
          </a:xfrm>
          <a:prstGeom prst="rect">
            <a:avLst/>
          </a:prstGeom>
          <a:solidFill>
            <a:srgbClr val="1E1E1E"/>
          </a:solidFill>
          <a:ln w="12700">
            <a:solidFill>
              <a:srgbClr val="26A69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017520" y="1920240"/>
            <a:ext cx="128016" cy="804672"/>
          </a:xfrm>
          <a:prstGeom prst="rect">
            <a:avLst/>
          </a:prstGeom>
          <a:solidFill>
            <a:srgbClr val="26A69A"/>
          </a:solidFill>
          <a:ln w="12700">
            <a:solidFill>
              <a:srgbClr val="26A69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36976" y="2121408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Integración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126480" y="2103120"/>
            <a:ext cx="1005840" cy="411480"/>
          </a:xfrm>
          <a:prstGeom prst="rect">
            <a:avLst/>
          </a:prstGeom>
          <a:solidFill>
            <a:srgbClr val="0A2E0A"/>
          </a:solidFill>
          <a:ln w="12700">
            <a:solidFill>
              <a:srgbClr val="43A04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26480" y="2103120"/>
            <a:ext cx="1005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3A0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9 PASS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017520" y="2880360"/>
            <a:ext cx="5669280" cy="804672"/>
          </a:xfrm>
          <a:prstGeom prst="rect">
            <a:avLst/>
          </a:prstGeom>
          <a:solidFill>
            <a:srgbClr val="1E1E1E"/>
          </a:solidFill>
          <a:ln w="12700">
            <a:solidFill>
              <a:srgbClr val="43A04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17520" y="2880360"/>
            <a:ext cx="128016" cy="804672"/>
          </a:xfrm>
          <a:prstGeom prst="rect">
            <a:avLst/>
          </a:prstGeom>
          <a:solidFill>
            <a:srgbClr val="43A047"/>
          </a:solidFill>
          <a:ln w="12700">
            <a:solidFill>
              <a:srgbClr val="43A04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236976" y="3081528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Caja Negra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126480" y="3063240"/>
            <a:ext cx="1005840" cy="411480"/>
          </a:xfrm>
          <a:prstGeom prst="rect">
            <a:avLst/>
          </a:prstGeom>
          <a:solidFill>
            <a:srgbClr val="0A2E0A"/>
          </a:solidFill>
          <a:ln w="12700">
            <a:solidFill>
              <a:srgbClr val="43A04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126480" y="3063240"/>
            <a:ext cx="1005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3A0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13 PASS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017520" y="3840480"/>
            <a:ext cx="5669280" cy="804672"/>
          </a:xfrm>
          <a:prstGeom prst="rect">
            <a:avLst/>
          </a:prstGeom>
          <a:solidFill>
            <a:srgbClr val="1E1E1E"/>
          </a:solidFill>
          <a:ln w="12700">
            <a:solidFill>
              <a:srgbClr val="EF6C0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017520" y="3840480"/>
            <a:ext cx="128016" cy="804672"/>
          </a:xfrm>
          <a:prstGeom prst="rect">
            <a:avLst/>
          </a:prstGeom>
          <a:solidFill>
            <a:srgbClr val="EF6C00"/>
          </a:solidFill>
          <a:ln w="12700">
            <a:solidFill>
              <a:srgbClr val="EF6C0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236976" y="4041648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funcionales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126480" y="4023360"/>
            <a:ext cx="1005840" cy="411480"/>
          </a:xfrm>
          <a:prstGeom prst="rect">
            <a:avLst/>
          </a:prstGeom>
          <a:solidFill>
            <a:srgbClr val="0A2E0A"/>
          </a:solidFill>
          <a:ln w="12700">
            <a:solidFill>
              <a:srgbClr val="43A04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126480" y="4023360"/>
            <a:ext cx="1005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3A0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10 PASS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7269480" y="4023360"/>
            <a:ext cx="1188720" cy="411480"/>
          </a:xfrm>
          <a:prstGeom prst="rect">
            <a:avLst/>
          </a:prstGeom>
          <a:solidFill>
            <a:srgbClr val="2E1A00"/>
          </a:solidFill>
          <a:ln w="12700">
            <a:solidFill>
              <a:srgbClr val="EF6C0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269480" y="4023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EF6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⏳ 1 PEND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365760" y="46177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PNF-03 (Android API 26) pendiente por limitación de entorno de emulación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CineClip – TFG DAM 2025-2026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Conclusiones y Trabajo Futuro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914400"/>
            <a:ext cx="3840480" cy="3566160"/>
          </a:xfrm>
          <a:prstGeom prst="rect">
            <a:avLst/>
          </a:prstGeom>
          <a:solidFill>
            <a:srgbClr val="1E1E1E"/>
          </a:solidFill>
          <a:ln w="12700">
            <a:solidFill>
              <a:srgbClr val="43A04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914400"/>
            <a:ext cx="3840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43A0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Objetivos alcanzados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347472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Android + Web desde una sola base de código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Integración TMDB con contenido en español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Backdrops progresivos como mecánica de juego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Autocompletado por ID (sin normalización de texto)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Ranking global con Firebase Firestore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 casos de prueba documentados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937760" y="914400"/>
            <a:ext cx="3840480" cy="3566160"/>
          </a:xfrm>
          <a:prstGeom prst="rect">
            <a:avLst/>
          </a:prstGeom>
          <a:solidFill>
            <a:srgbClr val="1E1E1E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37760" y="914400"/>
            <a:ext cx="3840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Líneas futuras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120640" y="1417320"/>
            <a:ext cx="347472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propio para proteger la API Key de TMDB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Filtros por género y época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Modo multijugador en tiempo real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Soporte para series de TV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Mejoras de accesibilidad (WCAG AA completo)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CineClip – TFG DAM 2025-2026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458200" y="0"/>
            <a:ext cx="685800" cy="514350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595360" y="320040"/>
            <a:ext cx="384048" cy="384048"/>
          </a:xfrm>
          <a:prstGeom prst="rect">
            <a:avLst/>
          </a:prstGeom>
          <a:solidFill>
            <a:srgbClr val="444444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595360" y="914400"/>
            <a:ext cx="384048" cy="384048"/>
          </a:xfrm>
          <a:prstGeom prst="rect">
            <a:avLst/>
          </a:prstGeom>
          <a:solidFill>
            <a:srgbClr val="444444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95360" y="1508760"/>
            <a:ext cx="384048" cy="384048"/>
          </a:xfrm>
          <a:prstGeom prst="rect">
            <a:avLst/>
          </a:prstGeom>
          <a:solidFill>
            <a:srgbClr val="444444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595360" y="2103120"/>
            <a:ext cx="384048" cy="384048"/>
          </a:xfrm>
          <a:prstGeom prst="rect">
            <a:avLst/>
          </a:prstGeom>
          <a:solidFill>
            <a:srgbClr val="444444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595360" y="2697480"/>
            <a:ext cx="384048" cy="384048"/>
          </a:xfrm>
          <a:prstGeom prst="rect">
            <a:avLst/>
          </a:prstGeom>
          <a:solidFill>
            <a:srgbClr val="444444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595360" y="3291840"/>
            <a:ext cx="384048" cy="384048"/>
          </a:xfrm>
          <a:prstGeom prst="rect">
            <a:avLst/>
          </a:prstGeom>
          <a:solidFill>
            <a:srgbClr val="444444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595360" y="3886200"/>
            <a:ext cx="384048" cy="384048"/>
          </a:xfrm>
          <a:prstGeom prst="rect">
            <a:avLst/>
          </a:prstGeom>
          <a:solidFill>
            <a:srgbClr val="444444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595360" y="4480560"/>
            <a:ext cx="384048" cy="384048"/>
          </a:xfrm>
          <a:prstGeom prst="rect">
            <a:avLst/>
          </a:prstGeom>
          <a:solidFill>
            <a:srgbClr val="444444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731520"/>
            <a:ext cx="7772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0" b="1" dirty="0">
                <a:solidFill>
                  <a:srgbClr val="E8B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¡Gracias!</a:t>
            </a:r>
            <a:endParaRPr lang="en-US" sz="7200" dirty="0"/>
          </a:p>
        </p:txBody>
      </p:sp>
      <p:sp>
        <p:nvSpPr>
          <p:cNvPr id="13" name="Shape 11"/>
          <p:cNvSpPr/>
          <p:nvPr/>
        </p:nvSpPr>
        <p:spPr>
          <a:xfrm>
            <a:off x="457200" y="2103120"/>
            <a:ext cx="5029200" cy="36576"/>
          </a:xfrm>
          <a:prstGeom prst="rect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22860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Sergio González Chacón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457200" y="2743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TFG DAM · Junio 2026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3291840"/>
            <a:ext cx="5303520" cy="502920"/>
          </a:xfrm>
          <a:prstGeom prst="rect">
            <a:avLst/>
          </a:prstGeom>
          <a:solidFill>
            <a:srgbClr val="111111"/>
          </a:solidFill>
          <a:ln w="12700">
            <a:solidFill>
              <a:srgbClr val="A67C2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291840"/>
            <a:ext cx="5303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🌐  https://sergiognlz.github.io/TFG-SergioGonzalez/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57200" y="411480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i="1" dirty="0">
                <a:solidFill>
                  <a:srgbClr val="AAAAA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¿Preguntas?</a:t>
            </a:r>
            <a:endParaRPr lang="en-US" sz="2200" dirty="0"/>
          </a:p>
        </p:txBody>
      </p:sp>
      <p:pic>
        <p:nvPicPr>
          <p:cNvPr id="21" name="Imagen 20">
            <a:extLst>
              <a:ext uri="{FF2B5EF4-FFF2-40B4-BE49-F238E27FC236}">
                <a16:creationId xmlns:a16="http://schemas.microsoft.com/office/drawing/2014/main" id="{DA1E8A55-0DB2-40FC-8ED9-CC4025F08F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49750" y="1365853"/>
            <a:ext cx="1845099" cy="184029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566</Words>
  <Application>Microsoft Office PowerPoint</Application>
  <PresentationFormat>Presentación en pantalla (16:9)</PresentationFormat>
  <Paragraphs>144</Paragraphs>
  <Slides>14</Slides>
  <Notes>14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14</vt:i4>
      </vt:variant>
    </vt:vector>
  </HeadingPairs>
  <TitlesOfParts>
    <vt:vector size="18" baseType="lpstr">
      <vt:lpstr>Arial</vt:lpstr>
      <vt:lpstr>Calibri</vt:lpstr>
      <vt:lpstr>Georgia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CineClip - TFG DAM</dc:title>
  <dc:subject>PptxGenJS Presentation</dc:subject>
  <dc:creator>PptxGenJS</dc:creator>
  <cp:lastModifiedBy>Sergio González Chacón</cp:lastModifiedBy>
  <cp:revision>4</cp:revision>
  <dcterms:created xsi:type="dcterms:W3CDTF">2026-03-05T08:53:51Z</dcterms:created>
  <dcterms:modified xsi:type="dcterms:W3CDTF">2026-03-06T09:49:33Z</dcterms:modified>
</cp:coreProperties>
</file>