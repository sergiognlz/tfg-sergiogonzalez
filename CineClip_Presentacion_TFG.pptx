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1" d="100"/>
          <a:sy n="101" d="100"/>
        </p:scale>
        <p:origin x="28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65385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" Target="slide7.xml"/><Relationship Id="rId7" Type="http://schemas.openxmlformats.org/officeDocument/2006/relationships/slide" Target="slide9.xml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slide" Target="slide11.xml"/><Relationship Id="rId5" Type="http://schemas.openxmlformats.org/officeDocument/2006/relationships/slide" Target="slide8.xml"/><Relationship Id="rId10" Type="http://schemas.openxmlformats.org/officeDocument/2006/relationships/image" Target="../media/image4.png"/><Relationship Id="rId4" Type="http://schemas.openxmlformats.org/officeDocument/2006/relationships/image" Target="../media/image1.png"/><Relationship Id="rId9" Type="http://schemas.openxmlformats.org/officeDocument/2006/relationships/slide" Target="slide10.xml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slide" Target="slide6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4" Type="http://schemas.openxmlformats.org/officeDocument/2006/relationships/hyperlink" Target="https://sergiognlz.github.io/TFG-SergioGonzalez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3200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9144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0" y="15087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210312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0" y="269748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0" y="32918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95360" y="38862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0" y="44805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58200" y="0"/>
            <a:ext cx="685800" cy="51435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0" y="3200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95360" y="9144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95360" y="15087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95360" y="210312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0" y="269748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0" y="32918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0" y="38862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95360" y="44805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73152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CineClip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457200" y="19202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Adivina la película. Un fotograma a la vez.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57200" y="2606040"/>
            <a:ext cx="5029200" cy="36576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7432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Fin de Grado Superior — DAM</a:t>
            </a:r>
            <a:endParaRPr lang="en-US" sz="14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González Chacón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Curso 2025 – 2026  </a:t>
            </a:r>
            <a:r>
              <a:rPr lang="en-US" sz="130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·  Mayo </a:t>
            </a: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993392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93392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 SDK 54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529584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29584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65776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65776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01968" y="429768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01968" y="4297680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 API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Motivación y Propuesta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3931920" cy="35661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3931920" cy="411480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601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El problema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Framed y Moviedle: solo web, sin app móvil real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única partida al día por usuario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contenido localizado en español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ranking global ni comunidad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960120"/>
            <a:ext cx="3931920" cy="35661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960120"/>
            <a:ext cx="3931920" cy="411480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9601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CineClip resuelve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46304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 nativa + Web desde un solo código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Partidas ilimitadas, sin restricción diaria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100% en español vía TMDB API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global persistente en Firebase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Stack Tecnológico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05840"/>
            <a:ext cx="109728" cy="1508760"/>
          </a:xfrm>
          <a:prstGeom prst="rect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155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+ Expo SDK 54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66420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multiplataforma (Android + Web)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54680" y="100584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54680" y="1005840"/>
            <a:ext cx="109728" cy="1508760"/>
          </a:xfrm>
          <a:prstGeom prst="rect">
            <a:avLst/>
          </a:prstGeom>
          <a:solidFill>
            <a:srgbClr val="3178C6"/>
          </a:solidFill>
          <a:ln w="12700">
            <a:solidFill>
              <a:srgbClr val="3178C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1155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5.x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37560" y="166420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principal · Tipado estático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00584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5040" y="1005840"/>
            <a:ext cx="109728" cy="1508760"/>
          </a:xfrm>
          <a:prstGeom prst="rect">
            <a:avLst/>
          </a:prstGeom>
          <a:solidFill>
            <a:srgbClr val="FFCA28"/>
          </a:solidFill>
          <a:ln w="12700">
            <a:solidFill>
              <a:srgbClr val="FFCA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1155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Firestore + Auth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166420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en la nube + Autenticación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69748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" y="2697480"/>
            <a:ext cx="109728" cy="1508760"/>
          </a:xfrm>
          <a:prstGeom prst="rect">
            <a:avLst/>
          </a:prstGeom>
          <a:solidFill>
            <a:srgbClr val="01D277"/>
          </a:solidFill>
          <a:ln w="12700">
            <a:solidFill>
              <a:srgbClr val="01D27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80720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 API v3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33558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Metadatos y backdrops en español · 3 endpoints/partida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154680" y="269748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54680" y="2697480"/>
            <a:ext cx="109728" cy="1508760"/>
          </a:xfrm>
          <a:prstGeom prst="rect">
            <a:avLst/>
          </a:prstGeom>
          <a:solidFill>
            <a:srgbClr val="000020"/>
          </a:solidFill>
          <a:ln w="12700">
            <a:solidFill>
              <a:srgbClr val="0000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280720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Navegación manual (App.tsx)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337560" y="33558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pantallas mediante estado React (useState)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35040" y="2697480"/>
            <a:ext cx="2697480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35040" y="2697480"/>
            <a:ext cx="109728" cy="1508760"/>
          </a:xfrm>
          <a:prstGeom prst="rect">
            <a:avLst/>
          </a:prstGeom>
          <a:solidFill>
            <a:srgbClr val="C21325"/>
          </a:solidFill>
          <a:ln w="12700">
            <a:solidFill>
              <a:srgbClr val="C2132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280720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+ RNTL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17920" y="3355848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e integración · 48 casos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Arquitectura del Sistema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960120"/>
            <a:ext cx="9144000" cy="804672"/>
          </a:xfrm>
          <a:prstGeom prst="rect">
            <a:avLst/>
          </a:prstGeom>
          <a:solidFill>
            <a:srgbClr val="1E1E1E"/>
          </a:solidFill>
          <a:ln w="25400">
            <a:solidFill>
              <a:srgbClr val="7E57C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960120"/>
            <a:ext cx="164592" cy="804672"/>
          </a:xfrm>
          <a:prstGeom prst="rect">
            <a:avLst/>
          </a:prstGeom>
          <a:solidFill>
            <a:srgbClr val="7E57C2"/>
          </a:solidFill>
          <a:ln w="12700">
            <a:solidFill>
              <a:srgbClr val="7E57C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101498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E57C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56032" y="138074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+ ViewModels (MVVM) · React Native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80560" y="1764792"/>
            <a:ext cx="0" cy="155448"/>
          </a:xfrm>
          <a:prstGeom prst="line">
            <a:avLst/>
          </a:prstGeom>
          <a:noFill/>
          <a:ln w="19050">
            <a:solidFill>
              <a:srgbClr val="44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" y="1920240"/>
            <a:ext cx="8778240" cy="804672"/>
          </a:xfrm>
          <a:prstGeom prst="rect">
            <a:avLst/>
          </a:prstGeom>
          <a:solidFill>
            <a:srgbClr val="1E1E1E"/>
          </a:solidFill>
          <a:ln w="25400">
            <a:solidFill>
              <a:srgbClr val="E8B84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1920240"/>
            <a:ext cx="164592" cy="804672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197510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Domain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38912" y="234086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· Repositorios (interfaces) · Casos de uso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80560" y="2724912"/>
            <a:ext cx="0" cy="155448"/>
          </a:xfrm>
          <a:prstGeom prst="line">
            <a:avLst/>
          </a:prstGeom>
          <a:noFill/>
          <a:ln w="19050">
            <a:solidFill>
              <a:srgbClr val="44444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880360"/>
            <a:ext cx="8412480" cy="804672"/>
          </a:xfrm>
          <a:prstGeom prst="rect">
            <a:avLst/>
          </a:prstGeom>
          <a:solidFill>
            <a:srgbClr val="1E1E1E"/>
          </a:solidFill>
          <a:ln w="25400">
            <a:solidFill>
              <a:srgbClr val="26A69A"/>
            </a:solidFill>
            <a:prstDash val="solid"/>
          </a:ln>
        </p:spPr>
        <p:txBody>
          <a:bodyPr/>
          <a:lstStyle/>
          <a:p>
            <a:endParaRPr lang="es-ES" dirty="0"/>
          </a:p>
        </p:txBody>
      </p:sp>
      <p:sp>
        <p:nvSpPr>
          <p:cNvPr id="15" name="Shape 13"/>
          <p:cNvSpPr/>
          <p:nvPr/>
        </p:nvSpPr>
        <p:spPr>
          <a:xfrm>
            <a:off x="365760" y="2880360"/>
            <a:ext cx="164592" cy="804672"/>
          </a:xfrm>
          <a:prstGeom prst="rect">
            <a:avLst/>
          </a:prstGeom>
          <a:solidFill>
            <a:srgbClr val="26A69A"/>
          </a:solidFill>
          <a:ln w="12700">
            <a:solidFill>
              <a:srgbClr val="26A6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293522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6A6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1792" y="3300984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TmdbMovieRepository · </a:t>
            </a:r>
            <a:r>
              <a:rPr lang="en-US" sz="1200" dirty="0" err="1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FirebaseRankingRepository</a:t>
            </a: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. </a:t>
            </a:r>
            <a:r>
              <a:rPr lang="en-US" sz="1200" dirty="0" err="1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FirebaseAuthRepository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480560" y="3685032"/>
            <a:ext cx="0" cy="155448"/>
          </a:xfrm>
          <a:prstGeom prst="line">
            <a:avLst/>
          </a:prstGeom>
          <a:noFill/>
          <a:ln w="19050">
            <a:solidFill>
              <a:srgbClr val="44444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840480"/>
            <a:ext cx="8046720" cy="804672"/>
          </a:xfrm>
          <a:prstGeom prst="rect">
            <a:avLst/>
          </a:prstGeom>
          <a:solidFill>
            <a:srgbClr val="1E1E1E"/>
          </a:solidFill>
          <a:ln w="25400">
            <a:solidFill>
              <a:srgbClr val="546E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840480"/>
            <a:ext cx="164592" cy="804672"/>
          </a:xfrm>
          <a:prstGeom prst="rect">
            <a:avLst/>
          </a:prstGeom>
          <a:solidFill>
            <a:srgbClr val="546E7A"/>
          </a:solidFill>
          <a:ln w="12700">
            <a:solidFill>
              <a:srgbClr val="546E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389534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46E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Infrastructure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04672" y="426110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· HTTP client (language=es-ES)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0" y="960120"/>
            <a:ext cx="2011680" cy="914400"/>
          </a:xfrm>
          <a:prstGeom prst="rect">
            <a:avLst/>
          </a:prstGeom>
          <a:solidFill>
            <a:srgbClr val="1A1A2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0" y="96012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</a:t>
            </a:r>
            <a:endParaRPr lang="en-US" sz="13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Principios SOLID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Mecánica de Juego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1920240" cy="2194560"/>
          </a:xfrm>
          <a:prstGeom prst="rect">
            <a:avLst/>
          </a:prstGeom>
          <a:solidFill>
            <a:srgbClr val="1E1E1E"/>
          </a:solidFill>
          <a:ln w="25400">
            <a:solidFill>
              <a:srgbClr val="5C6B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005840"/>
            <a:ext cx="640080" cy="640080"/>
          </a:xfrm>
          <a:prstGeom prst="ellipse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2194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Backdrop [0]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ambiguo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94560" y="2011680"/>
            <a:ext cx="274320" cy="0"/>
          </a:xfrm>
          <a:prstGeom prst="line">
            <a:avLst/>
          </a:prstGeom>
          <a:noFill/>
          <a:ln w="25400">
            <a:solidFill>
              <a:srgbClr val="44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914400"/>
            <a:ext cx="1920240" cy="2194560"/>
          </a:xfrm>
          <a:prstGeom prst="rect">
            <a:avLst/>
          </a:prstGeom>
          <a:solidFill>
            <a:srgbClr val="1E1E1E"/>
          </a:solidFill>
          <a:ln w="25400">
            <a:solidFill>
              <a:srgbClr val="EF6C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08960" y="1005840"/>
            <a:ext cx="640080" cy="640080"/>
          </a:xfrm>
          <a:prstGeom prst="ellipse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468880" y="1783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68880" y="2194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Backdrop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Pista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0" y="2011680"/>
            <a:ext cx="274320" cy="0"/>
          </a:xfrm>
          <a:prstGeom prst="line">
            <a:avLst/>
          </a:prstGeom>
          <a:noFill/>
          <a:ln w="25400">
            <a:solidFill>
              <a:srgbClr val="4444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20240" cy="2194560"/>
          </a:xfrm>
          <a:prstGeom prst="rect">
            <a:avLst/>
          </a:prstGeom>
          <a:solidFill>
            <a:srgbClr val="1E1E1E"/>
          </a:solidFill>
          <a:ln w="25400">
            <a:solidFill>
              <a:srgbClr val="EF6C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0" y="1005840"/>
            <a:ext cx="640080" cy="640080"/>
          </a:xfrm>
          <a:prstGeom prst="ellipse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0" y="1005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663440" y="17830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663440" y="21945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Backdrop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Pista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0840" y="2011680"/>
            <a:ext cx="274320" cy="0"/>
          </a:xfrm>
          <a:prstGeom prst="line">
            <a:avLst/>
          </a:prstGeom>
          <a:noFill/>
          <a:ln w="25400">
            <a:solidFill>
              <a:srgbClr val="44444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5160" y="914400"/>
            <a:ext cx="1920240" cy="960120"/>
          </a:xfrm>
          <a:prstGeom prst="rect">
            <a:avLst/>
          </a:prstGeom>
          <a:solidFill>
            <a:srgbClr val="0A2E0A"/>
          </a:solidFill>
          <a:ln w="25400">
            <a:solidFill>
              <a:srgbClr val="43A04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95160" y="9144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Acierto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995160" y="137160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(6 - intentos) × 100 pts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995160" y="2057400"/>
            <a:ext cx="1920240" cy="960120"/>
          </a:xfrm>
          <a:prstGeom prst="rect">
            <a:avLst/>
          </a:prstGeom>
          <a:solidFill>
            <a:srgbClr val="2E0A0A"/>
          </a:solidFill>
          <a:ln w="25400">
            <a:solidFill>
              <a:srgbClr val="E5393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95160" y="20574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Intentos agotados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995160" y="251460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revelada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3291840"/>
            <a:ext cx="6400800" cy="1371600"/>
          </a:xfrm>
          <a:prstGeom prst="rect">
            <a:avLst/>
          </a:prstGeom>
          <a:solidFill>
            <a:srgbClr val="111111"/>
          </a:solidFill>
          <a:ln w="12700">
            <a:solidFill>
              <a:srgbClr val="A67C2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33375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Pistas progresivas: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3703320"/>
            <a:ext cx="5943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1 → Año de estreno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2 → Director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3 → Género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4 → Reparto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Pantallas de la Aplicación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583680" y="2926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A67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(pulsa cada imagen para ampliar)</a:t>
            </a:r>
            <a:endParaRPr lang="en-US" sz="1100" dirty="0"/>
          </a:p>
        </p:txBody>
      </p:sp>
      <p:sp>
        <p:nvSpPr>
          <p:cNvPr id="5" name="Shape 3">
            <a:hlinkClick r:id="rId3" action="ppaction://hlinksldjump"/>
          </p:cNvPr>
          <p:cNvSpPr/>
          <p:nvPr/>
        </p:nvSpPr>
        <p:spPr>
          <a:xfrm>
            <a:off x="182880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6" name="Image 0" descr="/home/claude/screen_login.png">
            <a:hlinkClick r:id="rId3" action="ppaction://hlinksldjump"/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19456" y="950976"/>
            <a:ext cx="1499616" cy="813816"/>
          </a:xfrm>
          <a:prstGeom prst="rect">
            <a:avLst/>
          </a:prstGeom>
        </p:spPr>
      </p:pic>
      <p:sp>
        <p:nvSpPr>
          <p:cNvPr id="7" name="Shape 4">
            <a:hlinkClick r:id="rId3" action="ppaction://hlinksldjump"/>
          </p:cNvPr>
          <p:cNvSpPr/>
          <p:nvPr/>
        </p:nvSpPr>
        <p:spPr>
          <a:xfrm>
            <a:off x="768096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8" name="Text 5">
            <a:hlinkClick r:id="rId3" action="ppaction://hlinksldjump"/>
          </p:cNvPr>
          <p:cNvSpPr/>
          <p:nvPr/>
        </p:nvSpPr>
        <p:spPr>
          <a:xfrm>
            <a:off x="768096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82880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200" dirty="0"/>
          </a:p>
        </p:txBody>
      </p:sp>
      <p:sp>
        <p:nvSpPr>
          <p:cNvPr id="10" name="Shape 7">
            <a:hlinkClick r:id="rId5" action="ppaction://hlinksldjump"/>
          </p:cNvPr>
          <p:cNvSpPr/>
          <p:nvPr/>
        </p:nvSpPr>
        <p:spPr>
          <a:xfrm>
            <a:off x="1938528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11" name="Image 1" descr="/home/claude/screen_game.png">
            <a:hlinkClick r:id="rId5" action="ppaction://hlinksldjump"/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975104" y="950976"/>
            <a:ext cx="1499616" cy="813816"/>
          </a:xfrm>
          <a:prstGeom prst="rect">
            <a:avLst/>
          </a:prstGeom>
        </p:spPr>
      </p:pic>
      <p:sp>
        <p:nvSpPr>
          <p:cNvPr id="12" name="Shape 8">
            <a:hlinkClick r:id="rId5" action="ppaction://hlinksldjump"/>
          </p:cNvPr>
          <p:cNvSpPr/>
          <p:nvPr/>
        </p:nvSpPr>
        <p:spPr>
          <a:xfrm>
            <a:off x="2523744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3" name="Text 9">
            <a:hlinkClick r:id="rId5" action="ppaction://hlinksldjump"/>
          </p:cNvPr>
          <p:cNvSpPr/>
          <p:nvPr/>
        </p:nvSpPr>
        <p:spPr>
          <a:xfrm>
            <a:off x="2523744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938528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Juego</a:t>
            </a:r>
            <a:endParaRPr lang="en-US" sz="1200" dirty="0"/>
          </a:p>
        </p:txBody>
      </p:sp>
      <p:sp>
        <p:nvSpPr>
          <p:cNvPr id="15" name="Shape 11">
            <a:hlinkClick r:id="rId7" action="ppaction://hlinksldjump"/>
          </p:cNvPr>
          <p:cNvSpPr/>
          <p:nvPr/>
        </p:nvSpPr>
        <p:spPr>
          <a:xfrm>
            <a:off x="3694176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16" name="Image 2" descr="/home/claude/screen_hints.png">
            <a:hlinkClick r:id="rId7" action="ppaction://hlinksldjump"/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3730752" y="950976"/>
            <a:ext cx="1499616" cy="813816"/>
          </a:xfrm>
          <a:prstGeom prst="rect">
            <a:avLst/>
          </a:prstGeom>
        </p:spPr>
      </p:pic>
      <p:sp>
        <p:nvSpPr>
          <p:cNvPr id="17" name="Shape 12">
            <a:hlinkClick r:id="rId7" action="ppaction://hlinksldjump"/>
          </p:cNvPr>
          <p:cNvSpPr/>
          <p:nvPr/>
        </p:nvSpPr>
        <p:spPr>
          <a:xfrm>
            <a:off x="4279392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8" name="Text 13">
            <a:hlinkClick r:id="rId7" action="ppaction://hlinksldjump"/>
          </p:cNvPr>
          <p:cNvSpPr/>
          <p:nvPr/>
        </p:nvSpPr>
        <p:spPr>
          <a:xfrm>
            <a:off x="4279392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694176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Pistas</a:t>
            </a:r>
            <a:endParaRPr lang="en-US" sz="1200" dirty="0"/>
          </a:p>
        </p:txBody>
      </p:sp>
      <p:sp>
        <p:nvSpPr>
          <p:cNvPr id="20" name="Shape 15">
            <a:hlinkClick r:id="rId9" action="ppaction://hlinksldjump"/>
          </p:cNvPr>
          <p:cNvSpPr/>
          <p:nvPr/>
        </p:nvSpPr>
        <p:spPr>
          <a:xfrm>
            <a:off x="5449824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21" name="Image 3" descr="/home/claude/screen_result.png">
            <a:hlinkClick r:id="rId9" action="ppaction://hlinksldjump"/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486400" y="950976"/>
            <a:ext cx="1499616" cy="813816"/>
          </a:xfrm>
          <a:prstGeom prst="rect">
            <a:avLst/>
          </a:prstGeom>
        </p:spPr>
      </p:pic>
      <p:sp>
        <p:nvSpPr>
          <p:cNvPr id="22" name="Shape 16">
            <a:hlinkClick r:id="rId9" action="ppaction://hlinksldjump"/>
          </p:cNvPr>
          <p:cNvSpPr/>
          <p:nvPr/>
        </p:nvSpPr>
        <p:spPr>
          <a:xfrm>
            <a:off x="6035040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3" name="Text 17">
            <a:hlinkClick r:id="rId9" action="ppaction://hlinksldjump"/>
          </p:cNvPr>
          <p:cNvSpPr/>
          <p:nvPr/>
        </p:nvSpPr>
        <p:spPr>
          <a:xfrm>
            <a:off x="6035040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5449824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Shape 19">
            <a:hlinkClick r:id="rId11" action="ppaction://hlinksldjump"/>
          </p:cNvPr>
          <p:cNvSpPr/>
          <p:nvPr/>
        </p:nvSpPr>
        <p:spPr>
          <a:xfrm>
            <a:off x="7205472" y="914400"/>
            <a:ext cx="1572768" cy="1435608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pic>
        <p:nvPicPr>
          <p:cNvPr id="26" name="Image 4" descr="/home/claude/screen_ranking.png">
            <a:hlinkClick r:id="rId11" action="ppaction://hlinksldjump"/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7242048" y="950976"/>
            <a:ext cx="1499616" cy="813816"/>
          </a:xfrm>
          <a:prstGeom prst="rect">
            <a:avLst/>
          </a:prstGeom>
        </p:spPr>
      </p:pic>
      <p:sp>
        <p:nvSpPr>
          <p:cNvPr id="27" name="Shape 20">
            <a:hlinkClick r:id="rId11" action="ppaction://hlinksldjump"/>
          </p:cNvPr>
          <p:cNvSpPr/>
          <p:nvPr/>
        </p:nvSpPr>
        <p:spPr>
          <a:xfrm>
            <a:off x="7790688" y="1065276"/>
            <a:ext cx="402336" cy="402336"/>
          </a:xfrm>
          <a:prstGeom prst="ellipse">
            <a:avLst/>
          </a:prstGeom>
          <a:solidFill>
            <a:srgbClr val="000000">
              <a:alpha val="65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8" name="Text 21">
            <a:hlinkClick r:id="rId11" action="ppaction://hlinksldjump"/>
          </p:cNvPr>
          <p:cNvSpPr/>
          <p:nvPr/>
        </p:nvSpPr>
        <p:spPr>
          <a:xfrm>
            <a:off x="7790688" y="10652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u="sng" dirty="0">
                <a:solidFill>
                  <a:srgbClr val="E8B84B"/>
                </a:solidFill>
                <a:hlinkClick r:id="rId1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7205472" y="1874520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182880" y="1965960"/>
            <a:ext cx="8778240" cy="27432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274320" y="2084832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juego con pistas progresivas activas →</a:t>
            </a:r>
            <a:endParaRPr lang="en-US" sz="1200" dirty="0"/>
          </a:p>
        </p:txBody>
      </p:sp>
      <p:pic>
        <p:nvPicPr>
          <p:cNvPr id="32" name="Image 5" descr="/home/claude/screen_hints.png">
            <a:hlinkClick r:id="rId7" action="ppaction://hlinksldjump"/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74320" y="2514600"/>
            <a:ext cx="8595360" cy="2286000"/>
          </a:xfrm>
          <a:prstGeom prst="rect">
            <a:avLst/>
          </a:prstGeom>
        </p:spPr>
      </p:pic>
      <p:sp>
        <p:nvSpPr>
          <p:cNvPr id="33" name="Shape 25"/>
          <p:cNvSpPr/>
          <p:nvPr/>
        </p:nvSpPr>
        <p:spPr>
          <a:xfrm>
            <a:off x="274320" y="2514600"/>
            <a:ext cx="8595360" cy="320040"/>
          </a:xfrm>
          <a:prstGeom prst="rect">
            <a:avLst/>
          </a:prstGeom>
          <a:solidFill>
            <a:srgbClr val="000000">
              <a:alpha val="60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4" name="Text 26"/>
          <p:cNvSpPr/>
          <p:nvPr/>
        </p:nvSpPr>
        <p:spPr>
          <a:xfrm>
            <a:off x="274320" y="251460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Juego con 4 pistas desveladas tras fallos · backdrop cambiado · 1 intento restante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logi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/ Registro — Firebase Authentication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gam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Juego — Backdrop inicial · 5 intentos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hint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Juego — Pistas progresivas tras fallos · 1 intento restante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resul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— Game Over · metadatos completos en español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creen_ranking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274320" y="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Global — Clasificación por puntuación (Firebase Firestore)</a:t>
            </a:r>
            <a:endParaRPr lang="en-US" sz="14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6" name="Text 3">
            <a:hlinkClick r:id="rId4" action="ppaction://hlinksldjump"/>
          </p:cNvPr>
          <p:cNvSpPr/>
          <p:nvPr/>
        </p:nvSpPr>
        <p:spPr>
          <a:xfrm>
            <a:off x="7863840" y="4572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Volver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6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de Pruebas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2286000" cy="2286000"/>
          </a:xfrm>
          <a:prstGeom prst="rect">
            <a:avLst/>
          </a:prstGeom>
          <a:solidFill>
            <a:srgbClr val="1E1E1E"/>
          </a:solidFill>
          <a:ln w="25400">
            <a:solidFill>
              <a:srgbClr val="E8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058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365760" y="23317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prueba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17520" y="960120"/>
            <a:ext cx="5669280" cy="804672"/>
          </a:xfrm>
          <a:prstGeom prst="rect">
            <a:avLst/>
          </a:prstGeom>
          <a:solidFill>
            <a:srgbClr val="1E1E1E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17520" y="960120"/>
            <a:ext cx="128016" cy="804672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36976" y="116128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26480" y="1143000"/>
            <a:ext cx="1005840" cy="411480"/>
          </a:xfrm>
          <a:prstGeom prst="rect">
            <a:avLst/>
          </a:prstGeom>
          <a:solidFill>
            <a:srgbClr val="0A2E0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14300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15 PASS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17520" y="1920240"/>
            <a:ext cx="5669280" cy="804672"/>
          </a:xfrm>
          <a:prstGeom prst="rect">
            <a:avLst/>
          </a:prstGeom>
          <a:solidFill>
            <a:srgbClr val="1E1E1E"/>
          </a:solidFill>
          <a:ln w="12700">
            <a:solidFill>
              <a:srgbClr val="26A69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17520" y="1920240"/>
            <a:ext cx="128016" cy="804672"/>
          </a:xfrm>
          <a:prstGeom prst="rect">
            <a:avLst/>
          </a:prstGeom>
          <a:solidFill>
            <a:srgbClr val="26A69A"/>
          </a:solidFill>
          <a:ln w="12700">
            <a:solidFill>
              <a:srgbClr val="26A6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36976" y="212140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26480" y="2103120"/>
            <a:ext cx="1005840" cy="411480"/>
          </a:xfrm>
          <a:prstGeom prst="rect">
            <a:avLst/>
          </a:prstGeom>
          <a:solidFill>
            <a:srgbClr val="0A2E0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210312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9 PASS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17520" y="2880360"/>
            <a:ext cx="5669280" cy="804672"/>
          </a:xfrm>
          <a:prstGeom prst="rect">
            <a:avLst/>
          </a:prstGeom>
          <a:solidFill>
            <a:srgbClr val="1E1E1E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17520" y="2880360"/>
            <a:ext cx="128016" cy="804672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36976" y="308152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Negra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3063240"/>
            <a:ext cx="1005840" cy="411480"/>
          </a:xfrm>
          <a:prstGeom prst="rect">
            <a:avLst/>
          </a:prstGeom>
          <a:solidFill>
            <a:srgbClr val="0A2E0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306324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13 PASS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017520" y="3840480"/>
            <a:ext cx="5669280" cy="804672"/>
          </a:xfrm>
          <a:prstGeom prst="rect">
            <a:avLst/>
          </a:prstGeom>
          <a:solidFill>
            <a:srgbClr val="1E1E1E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17520" y="3840480"/>
            <a:ext cx="128016" cy="804672"/>
          </a:xfrm>
          <a:prstGeom prst="rect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36976" y="40416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funcionales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26480" y="4023360"/>
            <a:ext cx="1005840" cy="411480"/>
          </a:xfrm>
          <a:prstGeom prst="rect">
            <a:avLst/>
          </a:prstGeom>
          <a:solidFill>
            <a:srgbClr val="0A2E0A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40233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10 PASS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269480" y="4023360"/>
            <a:ext cx="1188720" cy="411480"/>
          </a:xfrm>
          <a:prstGeom prst="rect">
            <a:avLst/>
          </a:prstGeom>
          <a:solidFill>
            <a:srgbClr val="2E1A00"/>
          </a:solidFill>
          <a:ln w="12700">
            <a:solidFill>
              <a:srgbClr val="EF6C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69480" y="4023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F6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1 PEND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46177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PNF-03 (Android API 26) pendiente por limitación de entorno de emulación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 y Trabajo Futuro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3840480" cy="3566160"/>
          </a:xfrm>
          <a:prstGeom prst="rect">
            <a:avLst/>
          </a:prstGeom>
          <a:solidFill>
            <a:srgbClr val="1E1E1E"/>
          </a:solidFill>
          <a:ln w="12700">
            <a:solidFill>
              <a:srgbClr val="43A0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alcanzados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 + Web desde una sola base de código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TMDB con contenido en español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Backdrops progresivos como mecánica de juego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Autocompletado por ID (sin normalización de texto)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global con Firebase Firestore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casos de prueba documentados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937760" y="914400"/>
            <a:ext cx="3840480" cy="3566160"/>
          </a:xfrm>
          <a:prstGeom prst="rect">
            <a:avLst/>
          </a:prstGeom>
          <a:solidFill>
            <a:srgbClr val="1E1E1E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914400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 futuras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20640" y="14173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propio para proteger la API Key de TMDB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género y época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multijugador en tiempo real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para series de TV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de accesibilidad (WCAG AA completo)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CineClip – TFG DAM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58200" y="0"/>
            <a:ext cx="685800" cy="51435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3200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0" y="9144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15087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0" y="210312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0" y="269748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95360" y="329184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0" y="388620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0" y="4480560"/>
            <a:ext cx="384048" cy="384048"/>
          </a:xfrm>
          <a:prstGeom prst="rect">
            <a:avLst/>
          </a:prstGeom>
          <a:solidFill>
            <a:srgbClr val="444444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73152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¡Gracias!</a:t>
            </a:r>
            <a:endParaRPr lang="en-US" sz="7200" dirty="0"/>
          </a:p>
        </p:txBody>
      </p:sp>
      <p:sp>
        <p:nvSpPr>
          <p:cNvPr id="13" name="Shape 11"/>
          <p:cNvSpPr/>
          <p:nvPr/>
        </p:nvSpPr>
        <p:spPr>
          <a:xfrm>
            <a:off x="457200" y="2103120"/>
            <a:ext cx="5029200" cy="36576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286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González Chacón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TFG DAM · Junio 2026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5303520" cy="502920"/>
          </a:xfrm>
          <a:prstGeom prst="rect">
            <a:avLst/>
          </a:prstGeom>
          <a:solidFill>
            <a:srgbClr val="111111"/>
          </a:solidFill>
          <a:ln w="12700">
            <a:solidFill>
              <a:srgbClr val="A67C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29184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🌐  https://sergiognlz.github.io/TFG-SergioGonzalez/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1148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i="1" dirty="0">
                <a:solidFill>
                  <a:srgbClr val="AAAA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¿Preguntas?</a:t>
            </a:r>
            <a:endParaRPr lang="en-US" sz="2200" dirty="0"/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CE600448-0A6F-41CB-84DA-5FC07335F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364" y="1503771"/>
            <a:ext cx="2057636" cy="242474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577</Words>
  <Application>Microsoft Office PowerPoint</Application>
  <PresentationFormat>Presentación en pantalla (16:9)</PresentationFormat>
  <Paragraphs>144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CineClip - TFG DAM</dc:title>
  <dc:subject>PptxGenJS Presentation</dc:subject>
  <dc:creator>PptxGenJS</dc:creator>
  <cp:lastModifiedBy>Sergio González Chacón</cp:lastModifiedBy>
  <cp:revision>7</cp:revision>
  <dcterms:created xsi:type="dcterms:W3CDTF">2026-03-05T08:53:51Z</dcterms:created>
  <dcterms:modified xsi:type="dcterms:W3CDTF">2026-05-18T07:53:53Z</dcterms:modified>
</cp:coreProperties>
</file>