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28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538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" Target="slide10.xml"/><Relationship Id="rId7" Type="http://schemas.openxmlformats.org/officeDocument/2006/relationships/slide" Target="slide12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slide" Target="slide14.xml"/><Relationship Id="rId5" Type="http://schemas.openxmlformats.org/officeDocument/2006/relationships/slide" Target="slide11.xml"/><Relationship Id="rId10" Type="http://schemas.openxmlformats.org/officeDocument/2006/relationships/image" Target="../media/image4.png"/><Relationship Id="rId4" Type="http://schemas.openxmlformats.org/officeDocument/2006/relationships/image" Target="../media/image1.png"/><Relationship Id="rId9" Type="http://schemas.openxmlformats.org/officeDocument/2006/relationships/slide" Target="slide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58200" y="0"/>
            <a:ext cx="6858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7315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CineClip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457200" y="19202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Adivina la película. Un fotograma a la vez.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7200" y="2606040"/>
            <a:ext cx="502920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7432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Fin de Grado Superior — DAM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González Chacón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2025 – 2026  ·  Junio 2026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993392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SDK 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529584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9584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65776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65776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01968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01968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Motivación y Propuesta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93192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problema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Framed y Moviedle: solo web, sin app móvil real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única partida al día por usuario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contenido localizado en español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ranking global ni comunidad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93192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960120"/>
            <a:ext cx="393192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960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CineClip resuelve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nativa + Web desde un solo código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Partidas ilimitadas, sin restricción diaria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100% en español vía TMDB API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persistente en Firebase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109728" cy="1508760"/>
          </a:xfrm>
          <a:prstGeom prst="rect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SDK 52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multiplataforma (Android + Web)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5468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54680" y="1005840"/>
            <a:ext cx="109728" cy="1508760"/>
          </a:xfrm>
          <a:prstGeom prst="rect">
            <a:avLst/>
          </a:prstGeom>
          <a:solidFill>
            <a:srgbClr val="3178C6"/>
          </a:solidFill>
          <a:ln w="12700">
            <a:solidFill>
              <a:srgbClr val="3178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5.x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principal · Tipado estático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0" y="1005840"/>
            <a:ext cx="109728" cy="1508760"/>
          </a:xfrm>
          <a:prstGeom prst="rect">
            <a:avLst/>
          </a:prstGeom>
          <a:solidFill>
            <a:srgbClr val="FFCA28"/>
          </a:solidFill>
          <a:ln w="12700">
            <a:solidFill>
              <a:srgbClr val="FFCA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Firestore + Auth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en la nube + Autenticación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2697480"/>
            <a:ext cx="109728" cy="1508760"/>
          </a:xfrm>
          <a:prstGeom prst="rect">
            <a:avLst/>
          </a:prstGeom>
          <a:solidFill>
            <a:srgbClr val="01D277"/>
          </a:solidFill>
          <a:ln w="12700">
            <a:solidFill>
              <a:srgbClr val="01D2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 v3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Metadatos y backdrops en español · 3 endpoints/partida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15468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54680" y="2697480"/>
            <a:ext cx="109728" cy="1508760"/>
          </a:xfrm>
          <a:prstGeom prst="rect">
            <a:avLst/>
          </a:prstGeom>
          <a:solidFill>
            <a:srgbClr val="000020"/>
          </a:solidFill>
          <a:ln w="12700">
            <a:solidFill>
              <a:srgbClr val="000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Router v3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3756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 basada en ficheros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35040" y="2697480"/>
            <a:ext cx="109728" cy="1508760"/>
          </a:xfrm>
          <a:prstGeom prst="rect">
            <a:avLst/>
          </a:prstGeom>
          <a:solidFill>
            <a:srgbClr val="C21325"/>
          </a:solidFill>
          <a:ln w="12700">
            <a:solidFill>
              <a:srgbClr val="C2132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RNTL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e integración · 48 casos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Arquitectura del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960120"/>
            <a:ext cx="914400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7E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960120"/>
            <a:ext cx="164592" cy="804672"/>
          </a:xfrm>
          <a:prstGeom prst="rect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10149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E57C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6032" y="13807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+ ViewModels (MVVM) · React Native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176479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" y="1920240"/>
            <a:ext cx="877824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1920240"/>
            <a:ext cx="164592" cy="804672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19751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38912" y="23408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· Repositorios (interfaces) · Casos de uso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272491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80360"/>
            <a:ext cx="841248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26A69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880360"/>
            <a:ext cx="164592" cy="804672"/>
          </a:xfrm>
          <a:prstGeom prst="rect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93522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A6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1792" y="330098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TmdbMovieRepository · FirebaseRankingRepository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80560" y="368503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0480"/>
            <a:ext cx="804672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546E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840480"/>
            <a:ext cx="164592" cy="804672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38953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6E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04672" y="426110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· HTTP client (language=es-ES)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0" y="960120"/>
            <a:ext cx="201168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0" y="96012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3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SOLID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Mecánica de Juego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5C6B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005840"/>
            <a:ext cx="640080" cy="640080"/>
          </a:xfrm>
          <a:prstGeom prst="ellipse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 [0]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ambiguo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9456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EF6C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1005840"/>
            <a:ext cx="640080" cy="640080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6888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Backdrop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Pista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EF6C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0" y="1005840"/>
            <a:ext cx="640080" cy="640080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6344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6344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Backdrop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Pista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5160" y="914400"/>
            <a:ext cx="1920240" cy="960120"/>
          </a:xfrm>
          <a:prstGeom prst="rect">
            <a:avLst/>
          </a:prstGeom>
          <a:solidFill>
            <a:srgbClr val="0A2E0A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5160" y="914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Acierto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95160" y="13716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(6 - intentos) × 100 pts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995160" y="2057400"/>
            <a:ext cx="1920240" cy="960120"/>
          </a:xfrm>
          <a:prstGeom prst="rect">
            <a:avLst/>
          </a:prstGeom>
          <a:solidFill>
            <a:srgbClr val="2E0A0A"/>
          </a:solidFill>
          <a:ln w="25400">
            <a:solidFill>
              <a:srgbClr val="E539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95160" y="2057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Intentos agotados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95160" y="25146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revelada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291840"/>
            <a:ext cx="6400800" cy="1371600"/>
          </a:xfrm>
          <a:prstGeom prst="rect">
            <a:avLst/>
          </a:prstGeom>
          <a:solidFill>
            <a:srgbClr val="111111"/>
          </a:solidFill>
          <a:ln w="12700">
            <a:solidFill>
              <a:srgbClr val="A67C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3337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 progresivas: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3703320"/>
            <a:ext cx="5943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1 → Año de estreno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2 → Director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3 → Género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4 → Reparto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Pantallas de la Aplicación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583680" y="292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A67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(pulsa cada imagen para ampliar)</a:t>
            </a:r>
            <a:endParaRPr lang="en-US" sz="1100" dirty="0"/>
          </a:p>
        </p:txBody>
      </p:sp>
      <p:sp>
        <p:nvSpPr>
          <p:cNvPr id="5" name="Shape 3">
            <a:hlinkClick r:id="rId3" action="ppaction://hlinksldjump"/>
          </p:cNvPr>
          <p:cNvSpPr/>
          <p:nvPr/>
        </p:nvSpPr>
        <p:spPr>
          <a:xfrm>
            <a:off x="182880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6" name="Image 0" descr="/home/claude/screen_login.png">
            <a:hlinkClick r:id="rId3" action="ppaction://hlinksldjump"/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9456" y="950976"/>
            <a:ext cx="1499616" cy="813816"/>
          </a:xfrm>
          <a:prstGeom prst="rect">
            <a:avLst/>
          </a:prstGeom>
        </p:spPr>
      </p:pic>
      <p:sp>
        <p:nvSpPr>
          <p:cNvPr id="7" name="Shape 4">
            <a:hlinkClick r:id="rId3" action="ppaction://hlinksldjump"/>
          </p:cNvPr>
          <p:cNvSpPr/>
          <p:nvPr/>
        </p:nvSpPr>
        <p:spPr>
          <a:xfrm>
            <a:off x="768096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8" name="Text 5">
            <a:hlinkClick r:id="rId3" action="ppaction://hlinksldjump"/>
          </p:cNvPr>
          <p:cNvSpPr/>
          <p:nvPr/>
        </p:nvSpPr>
        <p:spPr>
          <a:xfrm>
            <a:off x="768096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82880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00" dirty="0"/>
          </a:p>
        </p:txBody>
      </p:sp>
      <p:sp>
        <p:nvSpPr>
          <p:cNvPr id="10" name="Shape 7">
            <a:hlinkClick r:id="rId5" action="ppaction://hlinksldjump"/>
          </p:cNvPr>
          <p:cNvSpPr/>
          <p:nvPr/>
        </p:nvSpPr>
        <p:spPr>
          <a:xfrm>
            <a:off x="1938528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11" name="Image 1" descr="/home/claude/screen_game.png">
            <a:hlinkClick r:id="rId5" action="ppaction://hlinksldjump"/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975104" y="950976"/>
            <a:ext cx="1499616" cy="813816"/>
          </a:xfrm>
          <a:prstGeom prst="rect">
            <a:avLst/>
          </a:prstGeom>
        </p:spPr>
      </p:pic>
      <p:sp>
        <p:nvSpPr>
          <p:cNvPr id="12" name="Shape 8">
            <a:hlinkClick r:id="rId5" action="ppaction://hlinksldjump"/>
          </p:cNvPr>
          <p:cNvSpPr/>
          <p:nvPr/>
        </p:nvSpPr>
        <p:spPr>
          <a:xfrm>
            <a:off x="2523744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3" name="Text 9">
            <a:hlinkClick r:id="rId5" action="ppaction://hlinksldjump"/>
          </p:cNvPr>
          <p:cNvSpPr/>
          <p:nvPr/>
        </p:nvSpPr>
        <p:spPr>
          <a:xfrm>
            <a:off x="2523744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938528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</a:t>
            </a:r>
            <a:endParaRPr lang="en-US" sz="1200" dirty="0"/>
          </a:p>
        </p:txBody>
      </p:sp>
      <p:sp>
        <p:nvSpPr>
          <p:cNvPr id="15" name="Shape 11">
            <a:hlinkClick r:id="rId7" action="ppaction://hlinksldjump"/>
          </p:cNvPr>
          <p:cNvSpPr/>
          <p:nvPr/>
        </p:nvSpPr>
        <p:spPr>
          <a:xfrm>
            <a:off x="3694176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16" name="Image 2" descr="/home/claude/screen_hints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730752" y="950976"/>
            <a:ext cx="1499616" cy="813816"/>
          </a:xfrm>
          <a:prstGeom prst="rect">
            <a:avLst/>
          </a:prstGeom>
        </p:spPr>
      </p:pic>
      <p:sp>
        <p:nvSpPr>
          <p:cNvPr id="17" name="Shape 12">
            <a:hlinkClick r:id="rId7" action="ppaction://hlinksldjump"/>
          </p:cNvPr>
          <p:cNvSpPr/>
          <p:nvPr/>
        </p:nvSpPr>
        <p:spPr>
          <a:xfrm>
            <a:off x="4279392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8" name="Text 13">
            <a:hlinkClick r:id="rId7" action="ppaction://hlinksldjump"/>
          </p:cNvPr>
          <p:cNvSpPr/>
          <p:nvPr/>
        </p:nvSpPr>
        <p:spPr>
          <a:xfrm>
            <a:off x="4279392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694176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</a:t>
            </a:r>
            <a:endParaRPr lang="en-US" sz="1200" dirty="0"/>
          </a:p>
        </p:txBody>
      </p:sp>
      <p:sp>
        <p:nvSpPr>
          <p:cNvPr id="20" name="Shape 15">
            <a:hlinkClick r:id="rId9" action="ppaction://hlinksldjump"/>
          </p:cNvPr>
          <p:cNvSpPr/>
          <p:nvPr/>
        </p:nvSpPr>
        <p:spPr>
          <a:xfrm>
            <a:off x="5449824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21" name="Image 3" descr="/home/claude/screen_result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486400" y="950976"/>
            <a:ext cx="1499616" cy="813816"/>
          </a:xfrm>
          <a:prstGeom prst="rect">
            <a:avLst/>
          </a:prstGeom>
        </p:spPr>
      </p:pic>
      <p:sp>
        <p:nvSpPr>
          <p:cNvPr id="22" name="Shape 16">
            <a:hlinkClick r:id="rId9" action="ppaction://hlinksldjump"/>
          </p:cNvPr>
          <p:cNvSpPr/>
          <p:nvPr/>
        </p:nvSpPr>
        <p:spPr>
          <a:xfrm>
            <a:off x="6035040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17">
            <a:hlinkClick r:id="rId9" action="ppaction://hlinksldjump"/>
          </p:cNvPr>
          <p:cNvSpPr/>
          <p:nvPr/>
        </p:nvSpPr>
        <p:spPr>
          <a:xfrm>
            <a:off x="6035040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449824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Shape 19">
            <a:hlinkClick r:id="rId11" action="ppaction://hlinksldjump"/>
          </p:cNvPr>
          <p:cNvSpPr/>
          <p:nvPr/>
        </p:nvSpPr>
        <p:spPr>
          <a:xfrm>
            <a:off x="7205472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26" name="Image 4" descr="/home/claude/screen_ranking.png">
            <a:hlinkClick r:id="rId11" action="ppaction://hlinksldjump"/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7242048" y="950976"/>
            <a:ext cx="1499616" cy="813816"/>
          </a:xfrm>
          <a:prstGeom prst="rect">
            <a:avLst/>
          </a:prstGeom>
        </p:spPr>
      </p:pic>
      <p:sp>
        <p:nvSpPr>
          <p:cNvPr id="27" name="Shape 20">
            <a:hlinkClick r:id="rId11" action="ppaction://hlinksldjump"/>
          </p:cNvPr>
          <p:cNvSpPr/>
          <p:nvPr/>
        </p:nvSpPr>
        <p:spPr>
          <a:xfrm>
            <a:off x="7790688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8" name="Text 21">
            <a:hlinkClick r:id="rId11" action="ppaction://hlinksldjump"/>
          </p:cNvPr>
          <p:cNvSpPr/>
          <p:nvPr/>
        </p:nvSpPr>
        <p:spPr>
          <a:xfrm>
            <a:off x="7790688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7205472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182880" y="1965960"/>
            <a:ext cx="8778240" cy="2743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274320" y="208483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con pistas progresivas activas →</a:t>
            </a:r>
            <a:endParaRPr lang="en-US" sz="1200" dirty="0"/>
          </a:p>
        </p:txBody>
      </p:sp>
      <p:pic>
        <p:nvPicPr>
          <p:cNvPr id="32" name="Image 5" descr="/home/claude/screen_hints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74320" y="2514600"/>
            <a:ext cx="8595360" cy="228600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solidFill>
            <a:srgbClr val="000000">
              <a:alpha val="60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 con 4 pistas desveladas tras fallos · backdrop cambiado · 1 intento restante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log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Registro — Firebase Authentication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gam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— Backdrop inicial · 5 intentos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hint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— Pistas progresivas tras fallos · 1 intento restante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resul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— Game Over · metadatos completos en español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ranking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— Clasificación por puntuación (Firebase Firestore)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Pruebas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286000" cy="2286000"/>
          </a:xfrm>
          <a:prstGeom prst="rect">
            <a:avLst/>
          </a:prstGeom>
          <a:solidFill>
            <a:srgbClr val="1E1E1E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17520" y="96012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960120"/>
            <a:ext cx="128016" cy="80467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36976" y="116128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1430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15 PASS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17520" y="192024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7520" y="1920240"/>
            <a:ext cx="128016" cy="804672"/>
          </a:xfrm>
          <a:prstGeom prst="rect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212140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26480" y="210312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0312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 PASS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17520" y="288036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17520" y="2880360"/>
            <a:ext cx="128016" cy="804672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36976" y="308152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Negra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306324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06324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13 PASS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17520" y="384048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17520" y="3840480"/>
            <a:ext cx="128016" cy="804672"/>
          </a:xfrm>
          <a:prstGeom prst="rect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36976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funcionales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26480" y="402336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40233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 PASS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69480" y="4023360"/>
            <a:ext cx="1188720" cy="411480"/>
          </a:xfrm>
          <a:prstGeom prst="rect">
            <a:avLst/>
          </a:prstGeom>
          <a:solidFill>
            <a:srgbClr val="2E1A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9480" y="4023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6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1 PEND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6177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PNF-03 (Android API 26) pendiente por limitación de entorno de emulación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 y Trabajo Futuro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84048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alcanzados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+ Web desde una sola base de código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TMDB con contenido en español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Backdrops progresivos como mecánica de juego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Autocompletado por ID (sin normalización de texto)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con Firebase Firestore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casos de prueba documentados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937760" y="914400"/>
            <a:ext cx="384048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9144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futuras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14173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propio para proteger la API Key de TMDB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género y época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multijugador en tiempo real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para series de TV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de accesibilidad (WCAG AA completo)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58200" y="0"/>
            <a:ext cx="6858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7315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¡Gracias!</a:t>
            </a:r>
            <a:endParaRPr lang="en-US" sz="7200" dirty="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502920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González Chacón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DAM · Junio 2026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5303520" cy="502920"/>
          </a:xfrm>
          <a:prstGeom prst="rect">
            <a:avLst/>
          </a:prstGeom>
          <a:solidFill>
            <a:srgbClr val="111111"/>
          </a:solidFill>
          <a:ln w="12700">
            <a:solidFill>
              <a:srgbClr val="A67C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https://sergiognlz.github.io/TFG-SergioGonzalez/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n-US" sz="220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86167FE3-DA36-49D0-BA8E-858567B3F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4767" y="1298448"/>
            <a:ext cx="2014353" cy="20195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566</Words>
  <Application>Microsoft Office PowerPoint</Application>
  <PresentationFormat>Presentación en pantalla (16:9)</PresentationFormat>
  <Paragraphs>144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CineClip - TFG DAM</dc:title>
  <dc:subject>PptxGenJS Presentation</dc:subject>
  <dc:creator>PptxGenJS</dc:creator>
  <cp:lastModifiedBy>Sergio González Chacón</cp:lastModifiedBy>
  <cp:revision>3</cp:revision>
  <dcterms:created xsi:type="dcterms:W3CDTF">2026-03-05T08:53:51Z</dcterms:created>
  <dcterms:modified xsi:type="dcterms:W3CDTF">2026-03-06T07:58:17Z</dcterms:modified>
</cp:coreProperties>
</file>