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53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10.xml"/><Relationship Id="rId7" Type="http://schemas.openxmlformats.org/officeDocument/2006/relationships/slide" Target="slide12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slide" Target="slide14.xml"/><Relationship Id="rId5" Type="http://schemas.openxmlformats.org/officeDocument/2006/relationships/slide" Target="slide11.xml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slide" Target="slide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CineClip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Adivina la película. Un fotograma a la vez.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Superior — DAM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2025 – 2026  </a:t>
            </a:r>
            <a:r>
              <a:rPr lang="en-US" sz="130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Mayo </a:t>
            </a: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93392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9584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9584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65776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5776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Motivación y Propuesta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problema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y Moviedle: solo web, sin app móvil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única partida al día por usuario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contenido localizado en español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ranking global ni comunidad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CineClip resuelve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+ Web desde un solo código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ilimitadas, sin restricción diaria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100% en español vía TMDB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persistente en Firebase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09728" cy="150876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SDK 54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multiplataforma (Android + Web)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1005840"/>
            <a:ext cx="109728" cy="1508760"/>
          </a:xfrm>
          <a:prstGeom prst="rect">
            <a:avLst/>
          </a:prstGeom>
          <a:solidFill>
            <a:srgbClr val="3178C6"/>
          </a:solidFill>
          <a:ln w="12700">
            <a:solidFill>
              <a:srgbClr val="3178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principal · Tipado estático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005840"/>
            <a:ext cx="109728" cy="1508760"/>
          </a:xfrm>
          <a:prstGeom prst="rect">
            <a:avLst/>
          </a:prstGeom>
          <a:solidFill>
            <a:srgbClr val="FFCA28"/>
          </a:solidFill>
          <a:ln w="12700">
            <a:solidFill>
              <a:srgbClr val="FFC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en la nube + Autenticación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97480"/>
            <a:ext cx="109728" cy="1508760"/>
          </a:xfrm>
          <a:prstGeom prst="rect">
            <a:avLst/>
          </a:prstGeom>
          <a:solidFill>
            <a:srgbClr val="01D277"/>
          </a:solidFill>
          <a:ln w="12700">
            <a:solidFill>
              <a:srgbClr val="01D2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v3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y backdrops en español · 3 endpoints/partida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54680" y="2697480"/>
            <a:ext cx="109728" cy="1508760"/>
          </a:xfrm>
          <a:prstGeom prst="rect">
            <a:avLst/>
          </a:prstGeom>
          <a:solidFill>
            <a:srgbClr val="000020"/>
          </a:solidFill>
          <a:ln w="12700">
            <a:solidFill>
              <a:srgbClr val="0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manual (App.tsx)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pantallas mediante estado React (useState)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697480"/>
            <a:ext cx="109728" cy="1508760"/>
          </a:xfrm>
          <a:prstGeom prst="rect">
            <a:avLst/>
          </a:prstGeom>
          <a:solidFill>
            <a:srgbClr val="C21325"/>
          </a:solidFill>
          <a:ln w="12700">
            <a:solidFill>
              <a:srgbClr val="C213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RNTL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integración · 48 casos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960120"/>
            <a:ext cx="164592" cy="804672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014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E57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3807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+ ViewModels (MVVM) · React Native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6479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1920240"/>
            <a:ext cx="877824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920240"/>
            <a:ext cx="164592" cy="80467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975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" y="2340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· Repositorios (interfaces) · 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272491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841248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26A69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164592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9352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A6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" y="33009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TmdbMovieRepository · </a:t>
            </a:r>
            <a:r>
              <a:rPr lang="en-US" sz="12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FirebaseRankingRepository</a:t>
            </a: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2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FirebaseAuthRepository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68503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04672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546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840480"/>
            <a:ext cx="164592" cy="8046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95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6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HTTP client (language=es-ES)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SOLID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Mecánica de Juego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5C6B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640080" cy="640080"/>
          </a:xfrm>
          <a:prstGeom prst="ellipse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[0]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ambiguo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914400"/>
            <a:ext cx="1920240" cy="960120"/>
          </a:xfrm>
          <a:prstGeom prst="rect">
            <a:avLst/>
          </a:prstGeom>
          <a:solidFill>
            <a:srgbClr val="0A2E0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Acierto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1371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(6 - intentos) × 100 pts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95160" y="2057400"/>
            <a:ext cx="1920240" cy="960120"/>
          </a:xfrm>
          <a:prstGeom prst="rect">
            <a:avLst/>
          </a:prstGeom>
          <a:solidFill>
            <a:srgbClr val="2E0A0A"/>
          </a:solidFill>
          <a:ln w="254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Intentos agotados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2514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revelada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6400800" cy="137160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337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 progresivas: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1 → Año de estreno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2 → Director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3 → Género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4 → Reparto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Pantallas de la Aplicación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0" y="292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A67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(pulsa cada imagen para ampliar)</a:t>
            </a:r>
            <a:endParaRPr lang="en-US" sz="1100" dirty="0"/>
          </a:p>
        </p:txBody>
      </p:sp>
      <p:sp>
        <p:nvSpPr>
          <p:cNvPr id="5" name="Shape 3">
            <a:hlinkClick r:id="rId3" action="ppaction://hlinksldjump"/>
          </p:cNvPr>
          <p:cNvSpPr/>
          <p:nvPr/>
        </p:nvSpPr>
        <p:spPr>
          <a:xfrm>
            <a:off x="182880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6" name="Image 0" descr="/home/claude/screen_login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456" y="950976"/>
            <a:ext cx="1499616" cy="813816"/>
          </a:xfrm>
          <a:prstGeom prst="rect">
            <a:avLst/>
          </a:prstGeom>
        </p:spPr>
      </p:pic>
      <p:sp>
        <p:nvSpPr>
          <p:cNvPr id="7" name="Shape 4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1938528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1" name="Image 1" descr="/home/claude/screen_game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75104" y="950976"/>
            <a:ext cx="1499616" cy="813816"/>
          </a:xfrm>
          <a:prstGeom prst="rect">
            <a:avLst/>
          </a:prstGeom>
        </p:spPr>
      </p:pic>
      <p:sp>
        <p:nvSpPr>
          <p:cNvPr id="12" name="Shape 8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938528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</a:t>
            </a:r>
            <a:endParaRPr lang="en-US" sz="1200" dirty="0"/>
          </a:p>
        </p:txBody>
      </p:sp>
      <p:sp>
        <p:nvSpPr>
          <p:cNvPr id="15" name="Shape 11">
            <a:hlinkClick r:id="rId7" action="ppaction://hlinksldjump"/>
          </p:cNvPr>
          <p:cNvSpPr/>
          <p:nvPr/>
        </p:nvSpPr>
        <p:spPr>
          <a:xfrm>
            <a:off x="3694176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6" name="Image 2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730752" y="950976"/>
            <a:ext cx="1499616" cy="813816"/>
          </a:xfrm>
          <a:prstGeom prst="rect">
            <a:avLst/>
          </a:prstGeom>
        </p:spPr>
      </p:pic>
      <p:sp>
        <p:nvSpPr>
          <p:cNvPr id="17" name="Shape 12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8" name="Text 13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94176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</a:t>
            </a:r>
            <a:endParaRPr lang="en-US" sz="1200" dirty="0"/>
          </a:p>
        </p:txBody>
      </p:sp>
      <p:sp>
        <p:nvSpPr>
          <p:cNvPr id="20" name="Shape 15">
            <a:hlinkClick r:id="rId9" action="ppaction://hlinksldjump"/>
          </p:cNvPr>
          <p:cNvSpPr/>
          <p:nvPr/>
        </p:nvSpPr>
        <p:spPr>
          <a:xfrm>
            <a:off x="5449824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1" name="Image 3" descr="/home/claude/screen_result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486400" y="950976"/>
            <a:ext cx="1499616" cy="813816"/>
          </a:xfrm>
          <a:prstGeom prst="rect">
            <a:avLst/>
          </a:prstGeom>
        </p:spPr>
      </p:pic>
      <p:sp>
        <p:nvSpPr>
          <p:cNvPr id="22" name="Shape 16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17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49824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Shape 19">
            <a:hlinkClick r:id="rId11" action="ppaction://hlinksldjump"/>
          </p:cNvPr>
          <p:cNvSpPr/>
          <p:nvPr/>
        </p:nvSpPr>
        <p:spPr>
          <a:xfrm>
            <a:off x="7205472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6" name="Image 4" descr="/home/claude/screen_ranking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242048" y="950976"/>
            <a:ext cx="1499616" cy="813816"/>
          </a:xfrm>
          <a:prstGeom prst="rect">
            <a:avLst/>
          </a:prstGeom>
        </p:spPr>
      </p:pic>
      <p:sp>
        <p:nvSpPr>
          <p:cNvPr id="27" name="Shape 20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8" name="Text 21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05472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82880" y="1965960"/>
            <a:ext cx="8778240" cy="2743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208483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con pistas progresivas activas →</a:t>
            </a:r>
            <a:endParaRPr lang="en-US" sz="1200" dirty="0"/>
          </a:p>
        </p:txBody>
      </p:sp>
      <p:pic>
        <p:nvPicPr>
          <p:cNvPr id="32" name="Image 5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74320" y="2514600"/>
            <a:ext cx="8595360" cy="2286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con 4 pistas desveladas tras fallos · backdrop cambiado · 1 intento restante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Registro — Firebase Authentication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ga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Backdrop inicial · 5 intentos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hin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Pistas progresivas tras fallos · 1 intento restante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esul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Game Over · metadatos completos en español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ank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— Clasificación por puntuación (Firebase Firestore)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286000" cy="2286000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96012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960120"/>
            <a:ext cx="128016" cy="8046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36976" y="116128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15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1920240"/>
            <a:ext cx="128016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1214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 PASS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2880360"/>
            <a:ext cx="128016" cy="8046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13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384048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840480"/>
            <a:ext cx="128016" cy="804672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solidFill>
            <a:srgbClr val="2E1A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1 PEND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PNF-03 (Android API 26) pendiente por limitación de entorno de emulación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alcanzados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+ Web desde una sola base de código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TMDB con contenido en español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Backdrops progresivos como mecánica de juego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por ID (sin normalización de 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con Firebase Firestore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casos de prueba documentados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futuras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propio para proteger la API Key de TMDB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género y época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multijugador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series de TV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accesibilidad (WCAG AA completo)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DAM · Junio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https://sergiognlz.github.io/TFG-SergioGonzalez/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2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CE600448-0A6F-41CB-84DA-5FC07335F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364" y="1503771"/>
            <a:ext cx="2057636" cy="24247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577</Words>
  <Application>Microsoft Office PowerPoint</Application>
  <PresentationFormat>Presentación en pantalla (16:9)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CineClip - TFG DAM</dc:title>
  <dc:subject>PptxGenJS Presentation</dc:subject>
  <dc:creator>PptxGenJS</dc:creator>
  <cp:lastModifiedBy>Sergio González Chacón</cp:lastModifiedBy>
  <cp:revision>7</cp:revision>
  <dcterms:created xsi:type="dcterms:W3CDTF">2026-03-05T08:53:51Z</dcterms:created>
  <dcterms:modified xsi:type="dcterms:W3CDTF">2026-05-18T07:53:53Z</dcterms:modified>
</cp:coreProperties>
</file>